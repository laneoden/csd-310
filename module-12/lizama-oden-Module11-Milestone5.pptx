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64" r:id="rId5"/>
    <p:sldId id="259" r:id="rId6"/>
    <p:sldId id="261" r:id="rId7"/>
    <p:sldId id="260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D28FE-7038-AF59-CDC4-C83F78D1733D}" v="77" dt="2024-07-25T15:38:09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25AED2-B45F-4CC2-A91D-038313DB5D2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B2E9871-988F-4F0B-BD30-0ACC27F91F7A}">
      <dgm:prSet/>
      <dgm:spPr/>
      <dgm:t>
        <a:bodyPr/>
        <a:lstStyle/>
        <a:p>
          <a:r>
            <a:rPr lang="en-US" b="0" i="0"/>
            <a:t>Kaden Lizama lives in Hawaii and is currently pursuing a BS degree in Software Development from Bellevue University.</a:t>
          </a:r>
          <a:endParaRPr lang="en-US"/>
        </a:p>
      </dgm:t>
    </dgm:pt>
    <dgm:pt modelId="{6FF6FCEF-1E96-4047-83E9-07A29EB81079}" type="parTrans" cxnId="{60C92CDC-5C29-4B6D-BA67-78A312AB3463}">
      <dgm:prSet/>
      <dgm:spPr/>
      <dgm:t>
        <a:bodyPr/>
        <a:lstStyle/>
        <a:p>
          <a:endParaRPr lang="en-US"/>
        </a:p>
      </dgm:t>
    </dgm:pt>
    <dgm:pt modelId="{BC59E5EA-0EC5-4B27-BC7F-EA2C6782CC26}" type="sibTrans" cxnId="{60C92CDC-5C29-4B6D-BA67-78A312AB3463}">
      <dgm:prSet/>
      <dgm:spPr/>
      <dgm:t>
        <a:bodyPr/>
        <a:lstStyle/>
        <a:p>
          <a:endParaRPr lang="en-US"/>
        </a:p>
      </dgm:t>
    </dgm:pt>
    <dgm:pt modelId="{B6C6D445-3FB7-4369-8592-23E532F9175B}">
      <dgm:prSet/>
      <dgm:spPr/>
      <dgm:t>
        <a:bodyPr/>
        <a:lstStyle/>
        <a:p>
          <a:r>
            <a:rPr lang="en-US" b="0" i="0"/>
            <a:t>Gerald Oden is a Cybersecurity Manager living in Birmingham, Alabama and is currently pursuing a BS degree in Software Development from Bellevue University.</a:t>
          </a:r>
          <a:endParaRPr lang="en-US"/>
        </a:p>
      </dgm:t>
    </dgm:pt>
    <dgm:pt modelId="{7EFF520E-597B-41FE-A8A8-E8E73D5668EB}" type="parTrans" cxnId="{2FEC0466-0FD2-4AA7-B6F1-8C7E1EB477BB}">
      <dgm:prSet/>
      <dgm:spPr/>
      <dgm:t>
        <a:bodyPr/>
        <a:lstStyle/>
        <a:p>
          <a:endParaRPr lang="en-US"/>
        </a:p>
      </dgm:t>
    </dgm:pt>
    <dgm:pt modelId="{C92A6A77-1FDD-4CC7-8812-58306857B4D3}" type="sibTrans" cxnId="{2FEC0466-0FD2-4AA7-B6F1-8C7E1EB477BB}">
      <dgm:prSet/>
      <dgm:spPr/>
      <dgm:t>
        <a:bodyPr/>
        <a:lstStyle/>
        <a:p>
          <a:endParaRPr lang="en-US"/>
        </a:p>
      </dgm:t>
    </dgm:pt>
    <dgm:pt modelId="{1B5B5722-258D-4D57-8FC7-2512BFD82C49}" type="pres">
      <dgm:prSet presAssocID="{F125AED2-B45F-4CC2-A91D-038313DB5D2F}" presName="root" presStyleCnt="0">
        <dgm:presLayoutVars>
          <dgm:dir/>
          <dgm:resizeHandles val="exact"/>
        </dgm:presLayoutVars>
      </dgm:prSet>
      <dgm:spPr/>
    </dgm:pt>
    <dgm:pt modelId="{2E292C61-535E-4130-AB8A-E9C7CE7C4FB8}" type="pres">
      <dgm:prSet presAssocID="{0B2E9871-988F-4F0B-BD30-0ACC27F91F7A}" presName="compNode" presStyleCnt="0"/>
      <dgm:spPr/>
    </dgm:pt>
    <dgm:pt modelId="{DB94129B-FDB3-41E6-A2A4-80918AAD712E}" type="pres">
      <dgm:prSet presAssocID="{0B2E9871-988F-4F0B-BD30-0ACC27F91F7A}" presName="bgRect" presStyleLbl="bgShp" presStyleIdx="0" presStyleCnt="2"/>
      <dgm:spPr/>
    </dgm:pt>
    <dgm:pt modelId="{92999C2C-DD82-41D9-877F-CEE2BB916C90}" type="pres">
      <dgm:prSet presAssocID="{0B2E9871-988F-4F0B-BD30-0ACC27F91F7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C8365F6-EC4D-48CC-A196-C94C738C95EE}" type="pres">
      <dgm:prSet presAssocID="{0B2E9871-988F-4F0B-BD30-0ACC27F91F7A}" presName="spaceRect" presStyleCnt="0"/>
      <dgm:spPr/>
    </dgm:pt>
    <dgm:pt modelId="{FEC3AE56-1F17-4488-96DB-3C169D36020B}" type="pres">
      <dgm:prSet presAssocID="{0B2E9871-988F-4F0B-BD30-0ACC27F91F7A}" presName="parTx" presStyleLbl="revTx" presStyleIdx="0" presStyleCnt="2">
        <dgm:presLayoutVars>
          <dgm:chMax val="0"/>
          <dgm:chPref val="0"/>
        </dgm:presLayoutVars>
      </dgm:prSet>
      <dgm:spPr/>
    </dgm:pt>
    <dgm:pt modelId="{6AB7E67A-0DC7-416D-8C63-6B18C99E3704}" type="pres">
      <dgm:prSet presAssocID="{BC59E5EA-0EC5-4B27-BC7F-EA2C6782CC26}" presName="sibTrans" presStyleCnt="0"/>
      <dgm:spPr/>
    </dgm:pt>
    <dgm:pt modelId="{BAB8479A-DBDD-4A62-8FD6-815DC90EE1DE}" type="pres">
      <dgm:prSet presAssocID="{B6C6D445-3FB7-4369-8592-23E532F9175B}" presName="compNode" presStyleCnt="0"/>
      <dgm:spPr/>
    </dgm:pt>
    <dgm:pt modelId="{2A6BE926-DAC8-4733-80DA-796D9DB976E3}" type="pres">
      <dgm:prSet presAssocID="{B6C6D445-3FB7-4369-8592-23E532F9175B}" presName="bgRect" presStyleLbl="bgShp" presStyleIdx="1" presStyleCnt="2"/>
      <dgm:spPr/>
    </dgm:pt>
    <dgm:pt modelId="{D436765F-9906-47DA-93A1-E0DCC01DA6DA}" type="pres">
      <dgm:prSet presAssocID="{B6C6D445-3FB7-4369-8592-23E532F9175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FF32EE19-67AC-48EE-BFCE-37C63DC1EDDD}" type="pres">
      <dgm:prSet presAssocID="{B6C6D445-3FB7-4369-8592-23E532F9175B}" presName="spaceRect" presStyleCnt="0"/>
      <dgm:spPr/>
    </dgm:pt>
    <dgm:pt modelId="{1385C590-0E10-4FB7-9D68-C57ACAEF2DA8}" type="pres">
      <dgm:prSet presAssocID="{B6C6D445-3FB7-4369-8592-23E532F9175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3A2580F-CAEF-4D39-965E-0766E9EA3EC3}" type="presOf" srcId="{B6C6D445-3FB7-4369-8592-23E532F9175B}" destId="{1385C590-0E10-4FB7-9D68-C57ACAEF2DA8}" srcOrd="0" destOrd="0" presId="urn:microsoft.com/office/officeart/2018/2/layout/IconVerticalSolidList"/>
    <dgm:cxn modelId="{E0545B1A-6AF4-4E46-A2E4-6BB8632F2365}" type="presOf" srcId="{0B2E9871-988F-4F0B-BD30-0ACC27F91F7A}" destId="{FEC3AE56-1F17-4488-96DB-3C169D36020B}" srcOrd="0" destOrd="0" presId="urn:microsoft.com/office/officeart/2018/2/layout/IconVerticalSolidList"/>
    <dgm:cxn modelId="{2FEC0466-0FD2-4AA7-B6F1-8C7E1EB477BB}" srcId="{F125AED2-B45F-4CC2-A91D-038313DB5D2F}" destId="{B6C6D445-3FB7-4369-8592-23E532F9175B}" srcOrd="1" destOrd="0" parTransId="{7EFF520E-597B-41FE-A8A8-E8E73D5668EB}" sibTransId="{C92A6A77-1FDD-4CC7-8812-58306857B4D3}"/>
    <dgm:cxn modelId="{E16DACB5-2CCE-4479-ADF9-C664DD8C0558}" type="presOf" srcId="{F125AED2-B45F-4CC2-A91D-038313DB5D2F}" destId="{1B5B5722-258D-4D57-8FC7-2512BFD82C49}" srcOrd="0" destOrd="0" presId="urn:microsoft.com/office/officeart/2018/2/layout/IconVerticalSolidList"/>
    <dgm:cxn modelId="{60C92CDC-5C29-4B6D-BA67-78A312AB3463}" srcId="{F125AED2-B45F-4CC2-A91D-038313DB5D2F}" destId="{0B2E9871-988F-4F0B-BD30-0ACC27F91F7A}" srcOrd="0" destOrd="0" parTransId="{6FF6FCEF-1E96-4047-83E9-07A29EB81079}" sibTransId="{BC59E5EA-0EC5-4B27-BC7F-EA2C6782CC26}"/>
    <dgm:cxn modelId="{CE5E2BF3-74E7-499F-9FB8-28FE4DAA2696}" type="presParOf" srcId="{1B5B5722-258D-4D57-8FC7-2512BFD82C49}" destId="{2E292C61-535E-4130-AB8A-E9C7CE7C4FB8}" srcOrd="0" destOrd="0" presId="urn:microsoft.com/office/officeart/2018/2/layout/IconVerticalSolidList"/>
    <dgm:cxn modelId="{19545EAB-5BD5-4435-B7EA-21D4FD796B7F}" type="presParOf" srcId="{2E292C61-535E-4130-AB8A-E9C7CE7C4FB8}" destId="{DB94129B-FDB3-41E6-A2A4-80918AAD712E}" srcOrd="0" destOrd="0" presId="urn:microsoft.com/office/officeart/2018/2/layout/IconVerticalSolidList"/>
    <dgm:cxn modelId="{E9EA93A4-41DE-4580-B4E1-488F4D6DDC15}" type="presParOf" srcId="{2E292C61-535E-4130-AB8A-E9C7CE7C4FB8}" destId="{92999C2C-DD82-41D9-877F-CEE2BB916C90}" srcOrd="1" destOrd="0" presId="urn:microsoft.com/office/officeart/2018/2/layout/IconVerticalSolidList"/>
    <dgm:cxn modelId="{63183B9E-AE99-46C8-BD78-0EA74B51B6A9}" type="presParOf" srcId="{2E292C61-535E-4130-AB8A-E9C7CE7C4FB8}" destId="{EC8365F6-EC4D-48CC-A196-C94C738C95EE}" srcOrd="2" destOrd="0" presId="urn:microsoft.com/office/officeart/2018/2/layout/IconVerticalSolidList"/>
    <dgm:cxn modelId="{C113719E-6C6C-4C33-89CF-D4AC83402C52}" type="presParOf" srcId="{2E292C61-535E-4130-AB8A-E9C7CE7C4FB8}" destId="{FEC3AE56-1F17-4488-96DB-3C169D36020B}" srcOrd="3" destOrd="0" presId="urn:microsoft.com/office/officeart/2018/2/layout/IconVerticalSolidList"/>
    <dgm:cxn modelId="{1EB57064-0BD6-4293-9549-33625F73903E}" type="presParOf" srcId="{1B5B5722-258D-4D57-8FC7-2512BFD82C49}" destId="{6AB7E67A-0DC7-416D-8C63-6B18C99E3704}" srcOrd="1" destOrd="0" presId="urn:microsoft.com/office/officeart/2018/2/layout/IconVerticalSolidList"/>
    <dgm:cxn modelId="{56EDA327-363D-4F3F-88A0-297373B5CE4F}" type="presParOf" srcId="{1B5B5722-258D-4D57-8FC7-2512BFD82C49}" destId="{BAB8479A-DBDD-4A62-8FD6-815DC90EE1DE}" srcOrd="2" destOrd="0" presId="urn:microsoft.com/office/officeart/2018/2/layout/IconVerticalSolidList"/>
    <dgm:cxn modelId="{44750421-D6EF-4755-A1D8-BA4FF44C5255}" type="presParOf" srcId="{BAB8479A-DBDD-4A62-8FD6-815DC90EE1DE}" destId="{2A6BE926-DAC8-4733-80DA-796D9DB976E3}" srcOrd="0" destOrd="0" presId="urn:microsoft.com/office/officeart/2018/2/layout/IconVerticalSolidList"/>
    <dgm:cxn modelId="{7FDEBD76-DEE5-493F-B481-148FFAB86628}" type="presParOf" srcId="{BAB8479A-DBDD-4A62-8FD6-815DC90EE1DE}" destId="{D436765F-9906-47DA-93A1-E0DCC01DA6DA}" srcOrd="1" destOrd="0" presId="urn:microsoft.com/office/officeart/2018/2/layout/IconVerticalSolidList"/>
    <dgm:cxn modelId="{A57B8977-4B9D-4A5A-9E48-109BBE2EA89C}" type="presParOf" srcId="{BAB8479A-DBDD-4A62-8FD6-815DC90EE1DE}" destId="{FF32EE19-67AC-48EE-BFCE-37C63DC1EDDD}" srcOrd="2" destOrd="0" presId="urn:microsoft.com/office/officeart/2018/2/layout/IconVerticalSolidList"/>
    <dgm:cxn modelId="{C1DE5037-F535-41AF-965A-8F788E605846}" type="presParOf" srcId="{BAB8479A-DBDD-4A62-8FD6-815DC90EE1DE}" destId="{1385C590-0E10-4FB7-9D68-C57ACAEF2D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CC7B99-8543-4BEC-B02F-384B2CEC1D9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2971C7-2CC8-47B6-BB1D-0AC473CAB41F}">
      <dgm:prSet/>
      <dgm:spPr/>
      <dgm:t>
        <a:bodyPr/>
        <a:lstStyle/>
        <a:p>
          <a:r>
            <a:rPr lang="en-US"/>
            <a:t>Ned and Jake Willson have long shared an interest in Finance and Investing.</a:t>
          </a:r>
        </a:p>
      </dgm:t>
    </dgm:pt>
    <dgm:pt modelId="{8028C550-351A-4004-B138-E0FE0E66B9A6}" type="parTrans" cxnId="{15D791A4-3E86-4D32-B945-F068FC3D0FAD}">
      <dgm:prSet/>
      <dgm:spPr/>
      <dgm:t>
        <a:bodyPr/>
        <a:lstStyle/>
        <a:p>
          <a:endParaRPr lang="en-US"/>
        </a:p>
      </dgm:t>
    </dgm:pt>
    <dgm:pt modelId="{A3B55F82-E990-455B-B05F-687BB1F2E132}" type="sibTrans" cxnId="{15D791A4-3E86-4D32-B945-F068FC3D0FAD}">
      <dgm:prSet/>
      <dgm:spPr/>
      <dgm:t>
        <a:bodyPr/>
        <a:lstStyle/>
        <a:p>
          <a:endParaRPr lang="en-US"/>
        </a:p>
      </dgm:t>
    </dgm:pt>
    <dgm:pt modelId="{B42E70DB-E213-47BB-BF12-3D370249A77B}">
      <dgm:prSet/>
      <dgm:spPr/>
      <dgm:t>
        <a:bodyPr/>
        <a:lstStyle/>
        <a:p>
          <a:r>
            <a:rPr lang="en-US"/>
            <a:t>The brothers each pursued finance degrees. Ned continued to complete his MBA.</a:t>
          </a:r>
        </a:p>
      </dgm:t>
    </dgm:pt>
    <dgm:pt modelId="{B8311D80-698B-4DF1-AF81-7092AD710466}" type="parTrans" cxnId="{E99CB725-1A9C-48E6-A0B5-C492BDF9486A}">
      <dgm:prSet/>
      <dgm:spPr/>
      <dgm:t>
        <a:bodyPr/>
        <a:lstStyle/>
        <a:p>
          <a:endParaRPr lang="en-US"/>
        </a:p>
      </dgm:t>
    </dgm:pt>
    <dgm:pt modelId="{60EA85A2-1993-4B1D-BADE-F38B822F4F99}" type="sibTrans" cxnId="{E99CB725-1A9C-48E6-A0B5-C492BDF9486A}">
      <dgm:prSet/>
      <dgm:spPr/>
      <dgm:t>
        <a:bodyPr/>
        <a:lstStyle/>
        <a:p>
          <a:endParaRPr lang="en-US"/>
        </a:p>
      </dgm:t>
    </dgm:pt>
    <dgm:pt modelId="{84AC45AA-41B7-4E42-BADE-0D1773142D7A}">
      <dgm:prSet/>
      <dgm:spPr/>
      <dgm:t>
        <a:bodyPr/>
        <a:lstStyle/>
        <a:p>
          <a:r>
            <a:rPr lang="en-US"/>
            <a:t>Ned and Jake founded Willson Financial after each passing their Chartered Financial Analyst license.</a:t>
          </a:r>
        </a:p>
      </dgm:t>
    </dgm:pt>
    <dgm:pt modelId="{FD0619FD-EFA8-496C-8189-9AE1FF8FE9D0}" type="parTrans" cxnId="{D57B7905-578A-4463-AF11-524B315D4CF0}">
      <dgm:prSet/>
      <dgm:spPr/>
      <dgm:t>
        <a:bodyPr/>
        <a:lstStyle/>
        <a:p>
          <a:endParaRPr lang="en-US"/>
        </a:p>
      </dgm:t>
    </dgm:pt>
    <dgm:pt modelId="{6BC6AFE8-0F45-4E08-B1C6-549F123CDFC1}" type="sibTrans" cxnId="{D57B7905-578A-4463-AF11-524B315D4CF0}">
      <dgm:prSet/>
      <dgm:spPr/>
      <dgm:t>
        <a:bodyPr/>
        <a:lstStyle/>
        <a:p>
          <a:endParaRPr lang="en-US"/>
        </a:p>
      </dgm:t>
    </dgm:pt>
    <dgm:pt modelId="{9CB6A58E-2F55-4CA0-BB4D-3B5DD81B8D16}">
      <dgm:prSet/>
      <dgm:spPr/>
      <dgm:t>
        <a:bodyPr/>
        <a:lstStyle/>
        <a:p>
          <a:r>
            <a:rPr lang="en-US"/>
            <a:t>Willson Financial targets successful ranchers, farmers and retirees in the local community.</a:t>
          </a:r>
        </a:p>
      </dgm:t>
    </dgm:pt>
    <dgm:pt modelId="{AEBFA7B0-6C8F-443D-8D09-AA854FBFC5E5}" type="parTrans" cxnId="{E7BF187B-345C-4A97-822B-9D4D2EDA5B6A}">
      <dgm:prSet/>
      <dgm:spPr/>
      <dgm:t>
        <a:bodyPr/>
        <a:lstStyle/>
        <a:p>
          <a:endParaRPr lang="en-US"/>
        </a:p>
      </dgm:t>
    </dgm:pt>
    <dgm:pt modelId="{17DFDF5F-94D0-4959-AB73-B0E8B0DB1356}" type="sibTrans" cxnId="{E7BF187B-345C-4A97-822B-9D4D2EDA5B6A}">
      <dgm:prSet/>
      <dgm:spPr/>
      <dgm:t>
        <a:bodyPr/>
        <a:lstStyle/>
        <a:p>
          <a:endParaRPr lang="en-US"/>
        </a:p>
      </dgm:t>
    </dgm:pt>
    <dgm:pt modelId="{B5416886-C35C-48FF-B0A4-2F79FC0026E8}">
      <dgm:prSet/>
      <dgm:spPr/>
      <dgm:t>
        <a:bodyPr/>
        <a:lstStyle/>
        <a:p>
          <a:r>
            <a:rPr lang="en-US"/>
            <a:t>Willson Financial elected to register with the Securities and Exchange Commission and must ensure compliance with SEC Regulations.</a:t>
          </a:r>
        </a:p>
      </dgm:t>
    </dgm:pt>
    <dgm:pt modelId="{1F37E003-FD2F-464B-981C-CFF6983A866B}" type="parTrans" cxnId="{F5FC996E-F393-4354-BB18-3B54A54EBDEB}">
      <dgm:prSet/>
      <dgm:spPr/>
      <dgm:t>
        <a:bodyPr/>
        <a:lstStyle/>
        <a:p>
          <a:endParaRPr lang="en-US"/>
        </a:p>
      </dgm:t>
    </dgm:pt>
    <dgm:pt modelId="{53082FD9-91FB-4C19-8811-9F0E98FC66A0}" type="sibTrans" cxnId="{F5FC996E-F393-4354-BB18-3B54A54EBDEB}">
      <dgm:prSet/>
      <dgm:spPr/>
      <dgm:t>
        <a:bodyPr/>
        <a:lstStyle/>
        <a:p>
          <a:endParaRPr lang="en-US"/>
        </a:p>
      </dgm:t>
    </dgm:pt>
    <dgm:pt modelId="{0AD0BAB8-F54A-4BA9-A6E0-6EDF948979DA}">
      <dgm:prSet/>
      <dgm:spPr/>
      <dgm:t>
        <a:bodyPr/>
        <a:lstStyle/>
        <a:p>
          <a:r>
            <a:rPr lang="en-US"/>
            <a:t>After hiring a full time office employee and a part time compliance manager, Willson Financial is examining their company data to analyze their business growth and perform a strategic review of their business.</a:t>
          </a:r>
        </a:p>
      </dgm:t>
    </dgm:pt>
    <dgm:pt modelId="{BFDF15E1-7EA8-49EC-8B48-A9555C432ECA}" type="parTrans" cxnId="{EB9FF129-39EA-47DF-AC48-76CFA4CF89E7}">
      <dgm:prSet/>
      <dgm:spPr/>
      <dgm:t>
        <a:bodyPr/>
        <a:lstStyle/>
        <a:p>
          <a:endParaRPr lang="en-US"/>
        </a:p>
      </dgm:t>
    </dgm:pt>
    <dgm:pt modelId="{EECA52F5-7C0B-40F4-BE64-D4255D757086}" type="sibTrans" cxnId="{EB9FF129-39EA-47DF-AC48-76CFA4CF89E7}">
      <dgm:prSet/>
      <dgm:spPr/>
      <dgm:t>
        <a:bodyPr/>
        <a:lstStyle/>
        <a:p>
          <a:endParaRPr lang="en-US"/>
        </a:p>
      </dgm:t>
    </dgm:pt>
    <dgm:pt modelId="{7A3584CC-7280-44CD-9A32-D9AD001D0004}" type="pres">
      <dgm:prSet presAssocID="{0BCC7B99-8543-4BEC-B02F-384B2CEC1D9A}" presName="Name0" presStyleCnt="0">
        <dgm:presLayoutVars>
          <dgm:dir/>
          <dgm:resizeHandles val="exact"/>
        </dgm:presLayoutVars>
      </dgm:prSet>
      <dgm:spPr/>
    </dgm:pt>
    <dgm:pt modelId="{66940936-F49A-49A1-A361-67E9E017C332}" type="pres">
      <dgm:prSet presAssocID="{7C2971C7-2CC8-47B6-BB1D-0AC473CAB41F}" presName="node" presStyleLbl="node1" presStyleIdx="0" presStyleCnt="6">
        <dgm:presLayoutVars>
          <dgm:bulletEnabled val="1"/>
        </dgm:presLayoutVars>
      </dgm:prSet>
      <dgm:spPr/>
    </dgm:pt>
    <dgm:pt modelId="{7AFAED2A-50C0-4E1A-A2ED-A80D67E0FC79}" type="pres">
      <dgm:prSet presAssocID="{A3B55F82-E990-455B-B05F-687BB1F2E132}" presName="sibTrans" presStyleLbl="sibTrans1D1" presStyleIdx="0" presStyleCnt="5"/>
      <dgm:spPr/>
    </dgm:pt>
    <dgm:pt modelId="{DBB9601D-0E18-4DE7-BD11-C48D190ABF16}" type="pres">
      <dgm:prSet presAssocID="{A3B55F82-E990-455B-B05F-687BB1F2E132}" presName="connectorText" presStyleLbl="sibTrans1D1" presStyleIdx="0" presStyleCnt="5"/>
      <dgm:spPr/>
    </dgm:pt>
    <dgm:pt modelId="{92AF8E85-24E4-4CDB-B7DA-4C0F9A584C45}" type="pres">
      <dgm:prSet presAssocID="{B42E70DB-E213-47BB-BF12-3D370249A77B}" presName="node" presStyleLbl="node1" presStyleIdx="1" presStyleCnt="6">
        <dgm:presLayoutVars>
          <dgm:bulletEnabled val="1"/>
        </dgm:presLayoutVars>
      </dgm:prSet>
      <dgm:spPr/>
    </dgm:pt>
    <dgm:pt modelId="{E6CC6925-A6B6-47C0-A7C9-4C50B29DBF63}" type="pres">
      <dgm:prSet presAssocID="{60EA85A2-1993-4B1D-BADE-F38B822F4F99}" presName="sibTrans" presStyleLbl="sibTrans1D1" presStyleIdx="1" presStyleCnt="5"/>
      <dgm:spPr/>
    </dgm:pt>
    <dgm:pt modelId="{DD4FCCD3-751B-4A66-911C-032D5526CAAD}" type="pres">
      <dgm:prSet presAssocID="{60EA85A2-1993-4B1D-BADE-F38B822F4F99}" presName="connectorText" presStyleLbl="sibTrans1D1" presStyleIdx="1" presStyleCnt="5"/>
      <dgm:spPr/>
    </dgm:pt>
    <dgm:pt modelId="{5B09A67E-6C20-4A96-BF7D-D63DAD10DF58}" type="pres">
      <dgm:prSet presAssocID="{84AC45AA-41B7-4E42-BADE-0D1773142D7A}" presName="node" presStyleLbl="node1" presStyleIdx="2" presStyleCnt="6">
        <dgm:presLayoutVars>
          <dgm:bulletEnabled val="1"/>
        </dgm:presLayoutVars>
      </dgm:prSet>
      <dgm:spPr/>
    </dgm:pt>
    <dgm:pt modelId="{DB5B6979-60D0-4D04-9D0D-D16251E15CD8}" type="pres">
      <dgm:prSet presAssocID="{6BC6AFE8-0F45-4E08-B1C6-549F123CDFC1}" presName="sibTrans" presStyleLbl="sibTrans1D1" presStyleIdx="2" presStyleCnt="5"/>
      <dgm:spPr/>
    </dgm:pt>
    <dgm:pt modelId="{6D01BC78-1E21-459A-832A-3D04E8209710}" type="pres">
      <dgm:prSet presAssocID="{6BC6AFE8-0F45-4E08-B1C6-549F123CDFC1}" presName="connectorText" presStyleLbl="sibTrans1D1" presStyleIdx="2" presStyleCnt="5"/>
      <dgm:spPr/>
    </dgm:pt>
    <dgm:pt modelId="{663DBA60-83FD-40F0-BB09-AF32D04767CF}" type="pres">
      <dgm:prSet presAssocID="{9CB6A58E-2F55-4CA0-BB4D-3B5DD81B8D16}" presName="node" presStyleLbl="node1" presStyleIdx="3" presStyleCnt="6">
        <dgm:presLayoutVars>
          <dgm:bulletEnabled val="1"/>
        </dgm:presLayoutVars>
      </dgm:prSet>
      <dgm:spPr/>
    </dgm:pt>
    <dgm:pt modelId="{F95DD876-3D27-43A1-89A4-722FA05E12EB}" type="pres">
      <dgm:prSet presAssocID="{17DFDF5F-94D0-4959-AB73-B0E8B0DB1356}" presName="sibTrans" presStyleLbl="sibTrans1D1" presStyleIdx="3" presStyleCnt="5"/>
      <dgm:spPr/>
    </dgm:pt>
    <dgm:pt modelId="{8B1B2A6B-DC0C-46A7-8232-7B3AF3950F1F}" type="pres">
      <dgm:prSet presAssocID="{17DFDF5F-94D0-4959-AB73-B0E8B0DB1356}" presName="connectorText" presStyleLbl="sibTrans1D1" presStyleIdx="3" presStyleCnt="5"/>
      <dgm:spPr/>
    </dgm:pt>
    <dgm:pt modelId="{7EC448B6-5992-4770-B766-204C3A9A8EB2}" type="pres">
      <dgm:prSet presAssocID="{B5416886-C35C-48FF-B0A4-2F79FC0026E8}" presName="node" presStyleLbl="node1" presStyleIdx="4" presStyleCnt="6">
        <dgm:presLayoutVars>
          <dgm:bulletEnabled val="1"/>
        </dgm:presLayoutVars>
      </dgm:prSet>
      <dgm:spPr/>
    </dgm:pt>
    <dgm:pt modelId="{CD31F173-1885-43D4-B118-D180267CDE36}" type="pres">
      <dgm:prSet presAssocID="{53082FD9-91FB-4C19-8811-9F0E98FC66A0}" presName="sibTrans" presStyleLbl="sibTrans1D1" presStyleIdx="4" presStyleCnt="5"/>
      <dgm:spPr/>
    </dgm:pt>
    <dgm:pt modelId="{18765B4C-E722-4F3B-9942-123AED43EC6B}" type="pres">
      <dgm:prSet presAssocID="{53082FD9-91FB-4C19-8811-9F0E98FC66A0}" presName="connectorText" presStyleLbl="sibTrans1D1" presStyleIdx="4" presStyleCnt="5"/>
      <dgm:spPr/>
    </dgm:pt>
    <dgm:pt modelId="{8993AD2F-4BA4-4EB8-A22C-EA242187AF43}" type="pres">
      <dgm:prSet presAssocID="{0AD0BAB8-F54A-4BA9-A6E0-6EDF948979DA}" presName="node" presStyleLbl="node1" presStyleIdx="5" presStyleCnt="6">
        <dgm:presLayoutVars>
          <dgm:bulletEnabled val="1"/>
        </dgm:presLayoutVars>
      </dgm:prSet>
      <dgm:spPr/>
    </dgm:pt>
  </dgm:ptLst>
  <dgm:cxnLst>
    <dgm:cxn modelId="{D57B7905-578A-4463-AF11-524B315D4CF0}" srcId="{0BCC7B99-8543-4BEC-B02F-384B2CEC1D9A}" destId="{84AC45AA-41B7-4E42-BADE-0D1773142D7A}" srcOrd="2" destOrd="0" parTransId="{FD0619FD-EFA8-496C-8189-9AE1FF8FE9D0}" sibTransId="{6BC6AFE8-0F45-4E08-B1C6-549F123CDFC1}"/>
    <dgm:cxn modelId="{AFE8A213-CAA2-475E-8D9F-B6AFA9D9AAF1}" type="presOf" srcId="{6BC6AFE8-0F45-4E08-B1C6-549F123CDFC1}" destId="{DB5B6979-60D0-4D04-9D0D-D16251E15CD8}" srcOrd="0" destOrd="0" presId="urn:microsoft.com/office/officeart/2016/7/layout/RepeatingBendingProcessNew"/>
    <dgm:cxn modelId="{82E6FC13-6CB1-4C13-9AD3-D425B714D9DD}" type="presOf" srcId="{B5416886-C35C-48FF-B0A4-2F79FC0026E8}" destId="{7EC448B6-5992-4770-B766-204C3A9A8EB2}" srcOrd="0" destOrd="0" presId="urn:microsoft.com/office/officeart/2016/7/layout/RepeatingBendingProcessNew"/>
    <dgm:cxn modelId="{E99CB725-1A9C-48E6-A0B5-C492BDF9486A}" srcId="{0BCC7B99-8543-4BEC-B02F-384B2CEC1D9A}" destId="{B42E70DB-E213-47BB-BF12-3D370249A77B}" srcOrd="1" destOrd="0" parTransId="{B8311D80-698B-4DF1-AF81-7092AD710466}" sibTransId="{60EA85A2-1993-4B1D-BADE-F38B822F4F99}"/>
    <dgm:cxn modelId="{EB9FF129-39EA-47DF-AC48-76CFA4CF89E7}" srcId="{0BCC7B99-8543-4BEC-B02F-384B2CEC1D9A}" destId="{0AD0BAB8-F54A-4BA9-A6E0-6EDF948979DA}" srcOrd="5" destOrd="0" parTransId="{BFDF15E1-7EA8-49EC-8B48-A9555C432ECA}" sibTransId="{EECA52F5-7C0B-40F4-BE64-D4255D757086}"/>
    <dgm:cxn modelId="{7C73FD29-D6E7-4CDC-BF93-23FCD7BB6B60}" type="presOf" srcId="{A3B55F82-E990-455B-B05F-687BB1F2E132}" destId="{DBB9601D-0E18-4DE7-BD11-C48D190ABF16}" srcOrd="1" destOrd="0" presId="urn:microsoft.com/office/officeart/2016/7/layout/RepeatingBendingProcessNew"/>
    <dgm:cxn modelId="{3BA1592D-6541-43B3-8D41-94978C55B41A}" type="presOf" srcId="{0BCC7B99-8543-4BEC-B02F-384B2CEC1D9A}" destId="{7A3584CC-7280-44CD-9A32-D9AD001D0004}" srcOrd="0" destOrd="0" presId="urn:microsoft.com/office/officeart/2016/7/layout/RepeatingBendingProcessNew"/>
    <dgm:cxn modelId="{46CF2A37-9ED6-4E8D-BC57-391621D6F2F1}" type="presOf" srcId="{9CB6A58E-2F55-4CA0-BB4D-3B5DD81B8D16}" destId="{663DBA60-83FD-40F0-BB09-AF32D04767CF}" srcOrd="0" destOrd="0" presId="urn:microsoft.com/office/officeart/2016/7/layout/RepeatingBendingProcessNew"/>
    <dgm:cxn modelId="{9A2ED737-2909-483C-99B1-048E709987FC}" type="presOf" srcId="{7C2971C7-2CC8-47B6-BB1D-0AC473CAB41F}" destId="{66940936-F49A-49A1-A361-67E9E017C332}" srcOrd="0" destOrd="0" presId="urn:microsoft.com/office/officeart/2016/7/layout/RepeatingBendingProcessNew"/>
    <dgm:cxn modelId="{5585A93F-61DB-4B03-B923-2CD6C49FD7CD}" type="presOf" srcId="{0AD0BAB8-F54A-4BA9-A6E0-6EDF948979DA}" destId="{8993AD2F-4BA4-4EB8-A22C-EA242187AF43}" srcOrd="0" destOrd="0" presId="urn:microsoft.com/office/officeart/2016/7/layout/RepeatingBendingProcessNew"/>
    <dgm:cxn modelId="{C932DE47-FE4D-48AB-BDD4-C8FCA647F355}" type="presOf" srcId="{60EA85A2-1993-4B1D-BADE-F38B822F4F99}" destId="{E6CC6925-A6B6-47C0-A7C9-4C50B29DBF63}" srcOrd="0" destOrd="0" presId="urn:microsoft.com/office/officeart/2016/7/layout/RepeatingBendingProcessNew"/>
    <dgm:cxn modelId="{F5FC996E-F393-4354-BB18-3B54A54EBDEB}" srcId="{0BCC7B99-8543-4BEC-B02F-384B2CEC1D9A}" destId="{B5416886-C35C-48FF-B0A4-2F79FC0026E8}" srcOrd="4" destOrd="0" parTransId="{1F37E003-FD2F-464B-981C-CFF6983A866B}" sibTransId="{53082FD9-91FB-4C19-8811-9F0E98FC66A0}"/>
    <dgm:cxn modelId="{E7BF187B-345C-4A97-822B-9D4D2EDA5B6A}" srcId="{0BCC7B99-8543-4BEC-B02F-384B2CEC1D9A}" destId="{9CB6A58E-2F55-4CA0-BB4D-3B5DD81B8D16}" srcOrd="3" destOrd="0" parTransId="{AEBFA7B0-6C8F-443D-8D09-AA854FBFC5E5}" sibTransId="{17DFDF5F-94D0-4959-AB73-B0E8B0DB1356}"/>
    <dgm:cxn modelId="{43763294-4005-4BAD-BE88-32654D6AE193}" type="presOf" srcId="{53082FD9-91FB-4C19-8811-9F0E98FC66A0}" destId="{18765B4C-E722-4F3B-9942-123AED43EC6B}" srcOrd="1" destOrd="0" presId="urn:microsoft.com/office/officeart/2016/7/layout/RepeatingBendingProcessNew"/>
    <dgm:cxn modelId="{D3E3E39C-25D6-48E6-99B0-F947B9A250EE}" type="presOf" srcId="{6BC6AFE8-0F45-4E08-B1C6-549F123CDFC1}" destId="{6D01BC78-1E21-459A-832A-3D04E8209710}" srcOrd="1" destOrd="0" presId="urn:microsoft.com/office/officeart/2016/7/layout/RepeatingBendingProcessNew"/>
    <dgm:cxn modelId="{15D791A4-3E86-4D32-B945-F068FC3D0FAD}" srcId="{0BCC7B99-8543-4BEC-B02F-384B2CEC1D9A}" destId="{7C2971C7-2CC8-47B6-BB1D-0AC473CAB41F}" srcOrd="0" destOrd="0" parTransId="{8028C550-351A-4004-B138-E0FE0E66B9A6}" sibTransId="{A3B55F82-E990-455B-B05F-687BB1F2E132}"/>
    <dgm:cxn modelId="{392C3DA6-6380-45C7-95E9-B4BDB6AEBBBA}" type="presOf" srcId="{17DFDF5F-94D0-4959-AB73-B0E8B0DB1356}" destId="{F95DD876-3D27-43A1-89A4-722FA05E12EB}" srcOrd="0" destOrd="0" presId="urn:microsoft.com/office/officeart/2016/7/layout/RepeatingBendingProcessNew"/>
    <dgm:cxn modelId="{CAB915B1-0132-40F4-9785-41A455B6D827}" type="presOf" srcId="{53082FD9-91FB-4C19-8811-9F0E98FC66A0}" destId="{CD31F173-1885-43D4-B118-D180267CDE36}" srcOrd="0" destOrd="0" presId="urn:microsoft.com/office/officeart/2016/7/layout/RepeatingBendingProcessNew"/>
    <dgm:cxn modelId="{AA6874C2-6924-4A56-A103-78A8928DDDE2}" type="presOf" srcId="{60EA85A2-1993-4B1D-BADE-F38B822F4F99}" destId="{DD4FCCD3-751B-4A66-911C-032D5526CAAD}" srcOrd="1" destOrd="0" presId="urn:microsoft.com/office/officeart/2016/7/layout/RepeatingBendingProcessNew"/>
    <dgm:cxn modelId="{B19E67C8-5728-4DD1-9349-0B44F43B2CFA}" type="presOf" srcId="{84AC45AA-41B7-4E42-BADE-0D1773142D7A}" destId="{5B09A67E-6C20-4A96-BF7D-D63DAD10DF58}" srcOrd="0" destOrd="0" presId="urn:microsoft.com/office/officeart/2016/7/layout/RepeatingBendingProcessNew"/>
    <dgm:cxn modelId="{A3BC0DD1-86D0-4111-AEDD-2DA55BE31297}" type="presOf" srcId="{A3B55F82-E990-455B-B05F-687BB1F2E132}" destId="{7AFAED2A-50C0-4E1A-A2ED-A80D67E0FC79}" srcOrd="0" destOrd="0" presId="urn:microsoft.com/office/officeart/2016/7/layout/RepeatingBendingProcessNew"/>
    <dgm:cxn modelId="{C5354CD7-1CFE-432E-9353-BB89388F65EB}" type="presOf" srcId="{17DFDF5F-94D0-4959-AB73-B0E8B0DB1356}" destId="{8B1B2A6B-DC0C-46A7-8232-7B3AF3950F1F}" srcOrd="1" destOrd="0" presId="urn:microsoft.com/office/officeart/2016/7/layout/RepeatingBendingProcessNew"/>
    <dgm:cxn modelId="{F1F458D8-760C-4BCB-9E32-FF44FECBF60D}" type="presOf" srcId="{B42E70DB-E213-47BB-BF12-3D370249A77B}" destId="{92AF8E85-24E4-4CDB-B7DA-4C0F9A584C45}" srcOrd="0" destOrd="0" presId="urn:microsoft.com/office/officeart/2016/7/layout/RepeatingBendingProcessNew"/>
    <dgm:cxn modelId="{CA08767C-7A8D-45AF-9E93-ED3F6D697DDB}" type="presParOf" srcId="{7A3584CC-7280-44CD-9A32-D9AD001D0004}" destId="{66940936-F49A-49A1-A361-67E9E017C332}" srcOrd="0" destOrd="0" presId="urn:microsoft.com/office/officeart/2016/7/layout/RepeatingBendingProcessNew"/>
    <dgm:cxn modelId="{6EBC7214-FF29-4D25-9B1F-2D7ECFB6547B}" type="presParOf" srcId="{7A3584CC-7280-44CD-9A32-D9AD001D0004}" destId="{7AFAED2A-50C0-4E1A-A2ED-A80D67E0FC79}" srcOrd="1" destOrd="0" presId="urn:microsoft.com/office/officeart/2016/7/layout/RepeatingBendingProcessNew"/>
    <dgm:cxn modelId="{8EAB3D56-84D8-4143-A791-C8150742002E}" type="presParOf" srcId="{7AFAED2A-50C0-4E1A-A2ED-A80D67E0FC79}" destId="{DBB9601D-0E18-4DE7-BD11-C48D190ABF16}" srcOrd="0" destOrd="0" presId="urn:microsoft.com/office/officeart/2016/7/layout/RepeatingBendingProcessNew"/>
    <dgm:cxn modelId="{24D32550-BEF3-4BC7-9049-07DDD9954106}" type="presParOf" srcId="{7A3584CC-7280-44CD-9A32-D9AD001D0004}" destId="{92AF8E85-24E4-4CDB-B7DA-4C0F9A584C45}" srcOrd="2" destOrd="0" presId="urn:microsoft.com/office/officeart/2016/7/layout/RepeatingBendingProcessNew"/>
    <dgm:cxn modelId="{DE00B1D2-3FE6-4C5C-A4C5-702982EC2433}" type="presParOf" srcId="{7A3584CC-7280-44CD-9A32-D9AD001D0004}" destId="{E6CC6925-A6B6-47C0-A7C9-4C50B29DBF63}" srcOrd="3" destOrd="0" presId="urn:microsoft.com/office/officeart/2016/7/layout/RepeatingBendingProcessNew"/>
    <dgm:cxn modelId="{29409B69-4C43-4A19-B818-1A6BDBB9D5E0}" type="presParOf" srcId="{E6CC6925-A6B6-47C0-A7C9-4C50B29DBF63}" destId="{DD4FCCD3-751B-4A66-911C-032D5526CAAD}" srcOrd="0" destOrd="0" presId="urn:microsoft.com/office/officeart/2016/7/layout/RepeatingBendingProcessNew"/>
    <dgm:cxn modelId="{A22D931D-85F2-4E55-A3DA-564D95497694}" type="presParOf" srcId="{7A3584CC-7280-44CD-9A32-D9AD001D0004}" destId="{5B09A67E-6C20-4A96-BF7D-D63DAD10DF58}" srcOrd="4" destOrd="0" presId="urn:microsoft.com/office/officeart/2016/7/layout/RepeatingBendingProcessNew"/>
    <dgm:cxn modelId="{43F9B16B-6BF0-47A9-A03B-6F2320AF087B}" type="presParOf" srcId="{7A3584CC-7280-44CD-9A32-D9AD001D0004}" destId="{DB5B6979-60D0-4D04-9D0D-D16251E15CD8}" srcOrd="5" destOrd="0" presId="urn:microsoft.com/office/officeart/2016/7/layout/RepeatingBendingProcessNew"/>
    <dgm:cxn modelId="{2B881F5D-46C5-4A18-B758-DD49B1DEFA19}" type="presParOf" srcId="{DB5B6979-60D0-4D04-9D0D-D16251E15CD8}" destId="{6D01BC78-1E21-459A-832A-3D04E8209710}" srcOrd="0" destOrd="0" presId="urn:microsoft.com/office/officeart/2016/7/layout/RepeatingBendingProcessNew"/>
    <dgm:cxn modelId="{23A4A104-27E9-4108-B7F5-472A9F497879}" type="presParOf" srcId="{7A3584CC-7280-44CD-9A32-D9AD001D0004}" destId="{663DBA60-83FD-40F0-BB09-AF32D04767CF}" srcOrd="6" destOrd="0" presId="urn:microsoft.com/office/officeart/2016/7/layout/RepeatingBendingProcessNew"/>
    <dgm:cxn modelId="{7BF38684-F54A-488B-AD58-25ADC83BCCF2}" type="presParOf" srcId="{7A3584CC-7280-44CD-9A32-D9AD001D0004}" destId="{F95DD876-3D27-43A1-89A4-722FA05E12EB}" srcOrd="7" destOrd="0" presId="urn:microsoft.com/office/officeart/2016/7/layout/RepeatingBendingProcessNew"/>
    <dgm:cxn modelId="{97B886A4-4C65-434E-801A-BA1DCFF09B5C}" type="presParOf" srcId="{F95DD876-3D27-43A1-89A4-722FA05E12EB}" destId="{8B1B2A6B-DC0C-46A7-8232-7B3AF3950F1F}" srcOrd="0" destOrd="0" presId="urn:microsoft.com/office/officeart/2016/7/layout/RepeatingBendingProcessNew"/>
    <dgm:cxn modelId="{1865943D-9929-42B5-8B46-38DBC669C18A}" type="presParOf" srcId="{7A3584CC-7280-44CD-9A32-D9AD001D0004}" destId="{7EC448B6-5992-4770-B766-204C3A9A8EB2}" srcOrd="8" destOrd="0" presId="urn:microsoft.com/office/officeart/2016/7/layout/RepeatingBendingProcessNew"/>
    <dgm:cxn modelId="{CBEDF607-622F-45D6-886F-730EA80A9971}" type="presParOf" srcId="{7A3584CC-7280-44CD-9A32-D9AD001D0004}" destId="{CD31F173-1885-43D4-B118-D180267CDE36}" srcOrd="9" destOrd="0" presId="urn:microsoft.com/office/officeart/2016/7/layout/RepeatingBendingProcessNew"/>
    <dgm:cxn modelId="{1ED6BC14-7F7D-46D9-ACA3-8A8B53B02140}" type="presParOf" srcId="{CD31F173-1885-43D4-B118-D180267CDE36}" destId="{18765B4C-E722-4F3B-9942-123AED43EC6B}" srcOrd="0" destOrd="0" presId="urn:microsoft.com/office/officeart/2016/7/layout/RepeatingBendingProcessNew"/>
    <dgm:cxn modelId="{C05824AF-4165-4E33-908F-EE110106D585}" type="presParOf" srcId="{7A3584CC-7280-44CD-9A32-D9AD001D0004}" destId="{8993AD2F-4BA4-4EB8-A22C-EA242187AF4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723E4B-4E4C-48B2-AE4A-C839C92DE63B}" type="doc">
      <dgm:prSet loTypeId="urn:microsoft.com/office/officeart/2016/7/layout/BasicLinear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DD600AA-BB0A-4BCF-AA88-11D170ECD21A}">
      <dgm:prSet/>
      <dgm:spPr/>
      <dgm:t>
        <a:bodyPr/>
        <a:lstStyle/>
        <a:p>
          <a:r>
            <a:rPr lang="en-US" b="0" i="0"/>
            <a:t>How many clients have been added for each of the last six months?</a:t>
          </a:r>
          <a:endParaRPr lang="en-US"/>
        </a:p>
      </dgm:t>
    </dgm:pt>
    <dgm:pt modelId="{040ADE7C-9B2B-4A3A-B4BF-1554A692B9D9}" type="parTrans" cxnId="{18E4F44E-CEA3-4199-B578-8E65BF7106A3}">
      <dgm:prSet/>
      <dgm:spPr/>
      <dgm:t>
        <a:bodyPr/>
        <a:lstStyle/>
        <a:p>
          <a:endParaRPr lang="en-US"/>
        </a:p>
      </dgm:t>
    </dgm:pt>
    <dgm:pt modelId="{3E69697B-80CD-42C1-8E82-EDBB1C349585}" type="sibTrans" cxnId="{18E4F44E-CEA3-4199-B578-8E65BF7106A3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5C65F808-FE79-4650-A400-96159AEC9C0B}">
      <dgm:prSet/>
      <dgm:spPr/>
      <dgm:t>
        <a:bodyPr/>
        <a:lstStyle/>
        <a:p>
          <a:r>
            <a:rPr lang="en-US" b="0" i="0"/>
            <a:t>What is the average amount of assets for the entire client list?</a:t>
          </a:r>
          <a:endParaRPr lang="en-US"/>
        </a:p>
      </dgm:t>
    </dgm:pt>
    <dgm:pt modelId="{B82EBEC2-07E6-4939-8342-80D9B29C472F}" type="parTrans" cxnId="{40430C4B-6C99-4291-8776-EAB5D28E8556}">
      <dgm:prSet/>
      <dgm:spPr/>
      <dgm:t>
        <a:bodyPr/>
        <a:lstStyle/>
        <a:p>
          <a:endParaRPr lang="en-US"/>
        </a:p>
      </dgm:t>
    </dgm:pt>
    <dgm:pt modelId="{37E7CC9E-19F0-4A86-8499-5F623D510068}" type="sibTrans" cxnId="{40430C4B-6C99-4291-8776-EAB5D28E855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1FEDEC7-3601-49AC-B51E-12E2CDC268A4}">
      <dgm:prSet/>
      <dgm:spPr/>
      <dgm:t>
        <a:bodyPr/>
        <a:lstStyle/>
        <a:p>
          <a:r>
            <a:rPr lang="en-US" b="0" i="0"/>
            <a:t>How many clients have a high number (&gt;10) of transactions each month?</a:t>
          </a:r>
          <a:endParaRPr lang="en-US"/>
        </a:p>
      </dgm:t>
    </dgm:pt>
    <dgm:pt modelId="{50142471-1E9F-463E-885B-8A94650AF372}" type="parTrans" cxnId="{2A8FD326-0219-455F-AE06-9452E757A9A5}">
      <dgm:prSet/>
      <dgm:spPr/>
      <dgm:t>
        <a:bodyPr/>
        <a:lstStyle/>
        <a:p>
          <a:endParaRPr lang="en-US"/>
        </a:p>
      </dgm:t>
    </dgm:pt>
    <dgm:pt modelId="{96423039-8505-4ECA-9B6D-6521E4111777}" type="sibTrans" cxnId="{2A8FD326-0219-455F-AE06-9452E757A9A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2A8485D6-85E2-4EFF-B3F0-D68E0C299740}" type="pres">
      <dgm:prSet presAssocID="{3E723E4B-4E4C-48B2-AE4A-C839C92DE63B}" presName="Name0" presStyleCnt="0">
        <dgm:presLayoutVars>
          <dgm:animLvl val="lvl"/>
          <dgm:resizeHandles val="exact"/>
        </dgm:presLayoutVars>
      </dgm:prSet>
      <dgm:spPr/>
    </dgm:pt>
    <dgm:pt modelId="{BA3D4DF0-F564-4ADB-9F41-4E28C8DED874}" type="pres">
      <dgm:prSet presAssocID="{1DD600AA-BB0A-4BCF-AA88-11D170ECD21A}" presName="compositeNode" presStyleCnt="0">
        <dgm:presLayoutVars>
          <dgm:bulletEnabled val="1"/>
        </dgm:presLayoutVars>
      </dgm:prSet>
      <dgm:spPr/>
    </dgm:pt>
    <dgm:pt modelId="{DF6DE8D0-A4F2-404A-9885-0D0E625388CE}" type="pres">
      <dgm:prSet presAssocID="{1DD600AA-BB0A-4BCF-AA88-11D170ECD21A}" presName="bgRect" presStyleLbl="bgAccFollowNode1" presStyleIdx="0" presStyleCnt="3"/>
      <dgm:spPr/>
    </dgm:pt>
    <dgm:pt modelId="{AF35D42D-745C-4540-8CBB-3977FFCD736D}" type="pres">
      <dgm:prSet presAssocID="{3E69697B-80CD-42C1-8E82-EDBB1C34958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9F00288D-D93B-4E91-842F-594393D3241C}" type="pres">
      <dgm:prSet presAssocID="{1DD600AA-BB0A-4BCF-AA88-11D170ECD21A}" presName="bottomLine" presStyleLbl="alignNode1" presStyleIdx="1" presStyleCnt="6">
        <dgm:presLayoutVars/>
      </dgm:prSet>
      <dgm:spPr/>
    </dgm:pt>
    <dgm:pt modelId="{0685A1B7-9390-40EC-88BA-3456518B0C18}" type="pres">
      <dgm:prSet presAssocID="{1DD600AA-BB0A-4BCF-AA88-11D170ECD21A}" presName="nodeText" presStyleLbl="bgAccFollowNode1" presStyleIdx="0" presStyleCnt="3">
        <dgm:presLayoutVars>
          <dgm:bulletEnabled val="1"/>
        </dgm:presLayoutVars>
      </dgm:prSet>
      <dgm:spPr/>
    </dgm:pt>
    <dgm:pt modelId="{6DB2E213-A597-4354-9030-AE640034AB03}" type="pres">
      <dgm:prSet presAssocID="{3E69697B-80CD-42C1-8E82-EDBB1C349585}" presName="sibTrans" presStyleCnt="0"/>
      <dgm:spPr/>
    </dgm:pt>
    <dgm:pt modelId="{41578FA7-17C7-4A35-A7D0-7D1A45A941E7}" type="pres">
      <dgm:prSet presAssocID="{5C65F808-FE79-4650-A400-96159AEC9C0B}" presName="compositeNode" presStyleCnt="0">
        <dgm:presLayoutVars>
          <dgm:bulletEnabled val="1"/>
        </dgm:presLayoutVars>
      </dgm:prSet>
      <dgm:spPr/>
    </dgm:pt>
    <dgm:pt modelId="{02F25B02-A92F-4EF9-B414-C8BB3A4DD000}" type="pres">
      <dgm:prSet presAssocID="{5C65F808-FE79-4650-A400-96159AEC9C0B}" presName="bgRect" presStyleLbl="bgAccFollowNode1" presStyleIdx="1" presStyleCnt="3"/>
      <dgm:spPr/>
    </dgm:pt>
    <dgm:pt modelId="{97B206D1-D87A-4496-826E-2BE2FA606BC1}" type="pres">
      <dgm:prSet presAssocID="{37E7CC9E-19F0-4A86-8499-5F623D51006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988976E0-9099-44C5-AD3E-BB9766CA5D67}" type="pres">
      <dgm:prSet presAssocID="{5C65F808-FE79-4650-A400-96159AEC9C0B}" presName="bottomLine" presStyleLbl="alignNode1" presStyleIdx="3" presStyleCnt="6">
        <dgm:presLayoutVars/>
      </dgm:prSet>
      <dgm:spPr/>
    </dgm:pt>
    <dgm:pt modelId="{6175B6DA-1C9A-4E48-B036-0D00C7960B6B}" type="pres">
      <dgm:prSet presAssocID="{5C65F808-FE79-4650-A400-96159AEC9C0B}" presName="nodeText" presStyleLbl="bgAccFollowNode1" presStyleIdx="1" presStyleCnt="3">
        <dgm:presLayoutVars>
          <dgm:bulletEnabled val="1"/>
        </dgm:presLayoutVars>
      </dgm:prSet>
      <dgm:spPr/>
    </dgm:pt>
    <dgm:pt modelId="{BE8D67FB-E3A5-4DC5-8857-A70F369BEEE6}" type="pres">
      <dgm:prSet presAssocID="{37E7CC9E-19F0-4A86-8499-5F623D510068}" presName="sibTrans" presStyleCnt="0"/>
      <dgm:spPr/>
    </dgm:pt>
    <dgm:pt modelId="{DC9B7375-9DB4-4725-9827-6A857144CE3B}" type="pres">
      <dgm:prSet presAssocID="{81FEDEC7-3601-49AC-B51E-12E2CDC268A4}" presName="compositeNode" presStyleCnt="0">
        <dgm:presLayoutVars>
          <dgm:bulletEnabled val="1"/>
        </dgm:presLayoutVars>
      </dgm:prSet>
      <dgm:spPr/>
    </dgm:pt>
    <dgm:pt modelId="{75DC78E8-26D5-436F-A1FB-A1AE1AF6A2C4}" type="pres">
      <dgm:prSet presAssocID="{81FEDEC7-3601-49AC-B51E-12E2CDC268A4}" presName="bgRect" presStyleLbl="bgAccFollowNode1" presStyleIdx="2" presStyleCnt="3"/>
      <dgm:spPr/>
    </dgm:pt>
    <dgm:pt modelId="{16A0AC74-C0E0-4E35-80B4-B0F967F76E55}" type="pres">
      <dgm:prSet presAssocID="{96423039-8505-4ECA-9B6D-6521E411177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709AFEA6-9ADB-49D4-85C2-58DFE9FDC618}" type="pres">
      <dgm:prSet presAssocID="{81FEDEC7-3601-49AC-B51E-12E2CDC268A4}" presName="bottomLine" presStyleLbl="alignNode1" presStyleIdx="5" presStyleCnt="6">
        <dgm:presLayoutVars/>
      </dgm:prSet>
      <dgm:spPr/>
    </dgm:pt>
    <dgm:pt modelId="{6C21624A-5849-43C6-A4DD-9D3DEBFA34E9}" type="pres">
      <dgm:prSet presAssocID="{81FEDEC7-3601-49AC-B51E-12E2CDC268A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2308BB02-71C2-490D-9835-DE753D09FA6B}" type="presOf" srcId="{81FEDEC7-3601-49AC-B51E-12E2CDC268A4}" destId="{6C21624A-5849-43C6-A4DD-9D3DEBFA34E9}" srcOrd="1" destOrd="0" presId="urn:microsoft.com/office/officeart/2016/7/layout/BasicLinearProcessNumbered"/>
    <dgm:cxn modelId="{246A981A-6627-4AC1-8B20-252FDC39358E}" type="presOf" srcId="{81FEDEC7-3601-49AC-B51E-12E2CDC268A4}" destId="{75DC78E8-26D5-436F-A1FB-A1AE1AF6A2C4}" srcOrd="0" destOrd="0" presId="urn:microsoft.com/office/officeart/2016/7/layout/BasicLinearProcessNumbered"/>
    <dgm:cxn modelId="{2A8FD326-0219-455F-AE06-9452E757A9A5}" srcId="{3E723E4B-4E4C-48B2-AE4A-C839C92DE63B}" destId="{81FEDEC7-3601-49AC-B51E-12E2CDC268A4}" srcOrd="2" destOrd="0" parTransId="{50142471-1E9F-463E-885B-8A94650AF372}" sibTransId="{96423039-8505-4ECA-9B6D-6521E4111777}"/>
    <dgm:cxn modelId="{40430C4B-6C99-4291-8776-EAB5D28E8556}" srcId="{3E723E4B-4E4C-48B2-AE4A-C839C92DE63B}" destId="{5C65F808-FE79-4650-A400-96159AEC9C0B}" srcOrd="1" destOrd="0" parTransId="{B82EBEC2-07E6-4939-8342-80D9B29C472F}" sibTransId="{37E7CC9E-19F0-4A86-8499-5F623D510068}"/>
    <dgm:cxn modelId="{18E4F44E-CEA3-4199-B578-8E65BF7106A3}" srcId="{3E723E4B-4E4C-48B2-AE4A-C839C92DE63B}" destId="{1DD600AA-BB0A-4BCF-AA88-11D170ECD21A}" srcOrd="0" destOrd="0" parTransId="{040ADE7C-9B2B-4A3A-B4BF-1554A692B9D9}" sibTransId="{3E69697B-80CD-42C1-8E82-EDBB1C349585}"/>
    <dgm:cxn modelId="{EB87B05C-CB40-47B0-AA45-B47C2393F612}" type="presOf" srcId="{3E723E4B-4E4C-48B2-AE4A-C839C92DE63B}" destId="{2A8485D6-85E2-4EFF-B3F0-D68E0C299740}" srcOrd="0" destOrd="0" presId="urn:microsoft.com/office/officeart/2016/7/layout/BasicLinearProcessNumbered"/>
    <dgm:cxn modelId="{593C406A-83EA-46B8-AE45-4FDD95EA6E9E}" type="presOf" srcId="{1DD600AA-BB0A-4BCF-AA88-11D170ECD21A}" destId="{0685A1B7-9390-40EC-88BA-3456518B0C18}" srcOrd="1" destOrd="0" presId="urn:microsoft.com/office/officeart/2016/7/layout/BasicLinearProcessNumbered"/>
    <dgm:cxn modelId="{DCF8AF95-2FB5-4AFA-A2BB-71695E976C33}" type="presOf" srcId="{37E7CC9E-19F0-4A86-8499-5F623D510068}" destId="{97B206D1-D87A-4496-826E-2BE2FA606BC1}" srcOrd="0" destOrd="0" presId="urn:microsoft.com/office/officeart/2016/7/layout/BasicLinearProcessNumbered"/>
    <dgm:cxn modelId="{46E755AD-F5EB-4396-9154-89051B5C26E6}" type="presOf" srcId="{96423039-8505-4ECA-9B6D-6521E4111777}" destId="{16A0AC74-C0E0-4E35-80B4-B0F967F76E55}" srcOrd="0" destOrd="0" presId="urn:microsoft.com/office/officeart/2016/7/layout/BasicLinearProcessNumbered"/>
    <dgm:cxn modelId="{D4D055B4-2782-4227-9CAC-4C1D9C68248C}" type="presOf" srcId="{1DD600AA-BB0A-4BCF-AA88-11D170ECD21A}" destId="{DF6DE8D0-A4F2-404A-9885-0D0E625388CE}" srcOrd="0" destOrd="0" presId="urn:microsoft.com/office/officeart/2016/7/layout/BasicLinearProcessNumbered"/>
    <dgm:cxn modelId="{1E4310EF-D86B-4835-9A6E-493577BAEFA4}" type="presOf" srcId="{5C65F808-FE79-4650-A400-96159AEC9C0B}" destId="{6175B6DA-1C9A-4E48-B036-0D00C7960B6B}" srcOrd="1" destOrd="0" presId="urn:microsoft.com/office/officeart/2016/7/layout/BasicLinearProcessNumbered"/>
    <dgm:cxn modelId="{212383F3-3CC9-4451-BCA3-FA8C944480F7}" type="presOf" srcId="{3E69697B-80CD-42C1-8E82-EDBB1C349585}" destId="{AF35D42D-745C-4540-8CBB-3977FFCD736D}" srcOrd="0" destOrd="0" presId="urn:microsoft.com/office/officeart/2016/7/layout/BasicLinearProcessNumbered"/>
    <dgm:cxn modelId="{D293E2FC-59D8-4BFB-861B-1A10CB6F067A}" type="presOf" srcId="{5C65F808-FE79-4650-A400-96159AEC9C0B}" destId="{02F25B02-A92F-4EF9-B414-C8BB3A4DD000}" srcOrd="0" destOrd="0" presId="urn:microsoft.com/office/officeart/2016/7/layout/BasicLinearProcessNumbered"/>
    <dgm:cxn modelId="{078F3FF4-23EE-4B6B-9213-A1D9FB070F23}" type="presParOf" srcId="{2A8485D6-85E2-4EFF-B3F0-D68E0C299740}" destId="{BA3D4DF0-F564-4ADB-9F41-4E28C8DED874}" srcOrd="0" destOrd="0" presId="urn:microsoft.com/office/officeart/2016/7/layout/BasicLinearProcessNumbered"/>
    <dgm:cxn modelId="{9AF766EA-3BF7-4069-B866-3BA416C14104}" type="presParOf" srcId="{BA3D4DF0-F564-4ADB-9F41-4E28C8DED874}" destId="{DF6DE8D0-A4F2-404A-9885-0D0E625388CE}" srcOrd="0" destOrd="0" presId="urn:microsoft.com/office/officeart/2016/7/layout/BasicLinearProcessNumbered"/>
    <dgm:cxn modelId="{FF5C23D2-B307-437D-8C8B-DB0BED6EB067}" type="presParOf" srcId="{BA3D4DF0-F564-4ADB-9F41-4E28C8DED874}" destId="{AF35D42D-745C-4540-8CBB-3977FFCD736D}" srcOrd="1" destOrd="0" presId="urn:microsoft.com/office/officeart/2016/7/layout/BasicLinearProcessNumbered"/>
    <dgm:cxn modelId="{B576383A-09F5-43CE-BFF3-E7719C3FB9D0}" type="presParOf" srcId="{BA3D4DF0-F564-4ADB-9F41-4E28C8DED874}" destId="{9F00288D-D93B-4E91-842F-594393D3241C}" srcOrd="2" destOrd="0" presId="urn:microsoft.com/office/officeart/2016/7/layout/BasicLinearProcessNumbered"/>
    <dgm:cxn modelId="{F5B32A55-AB77-4188-97AD-4EF95D94246A}" type="presParOf" srcId="{BA3D4DF0-F564-4ADB-9F41-4E28C8DED874}" destId="{0685A1B7-9390-40EC-88BA-3456518B0C18}" srcOrd="3" destOrd="0" presId="urn:microsoft.com/office/officeart/2016/7/layout/BasicLinearProcessNumbered"/>
    <dgm:cxn modelId="{C937E98E-9B2B-4AC0-847B-7AB1D1FFD16E}" type="presParOf" srcId="{2A8485D6-85E2-4EFF-B3F0-D68E0C299740}" destId="{6DB2E213-A597-4354-9030-AE640034AB03}" srcOrd="1" destOrd="0" presId="urn:microsoft.com/office/officeart/2016/7/layout/BasicLinearProcessNumbered"/>
    <dgm:cxn modelId="{427073E6-D2B3-4BDF-8BB6-328BD90B4053}" type="presParOf" srcId="{2A8485D6-85E2-4EFF-B3F0-D68E0C299740}" destId="{41578FA7-17C7-4A35-A7D0-7D1A45A941E7}" srcOrd="2" destOrd="0" presId="urn:microsoft.com/office/officeart/2016/7/layout/BasicLinearProcessNumbered"/>
    <dgm:cxn modelId="{41ACF6A5-2AE5-4491-9BC5-7884E925EDCA}" type="presParOf" srcId="{41578FA7-17C7-4A35-A7D0-7D1A45A941E7}" destId="{02F25B02-A92F-4EF9-B414-C8BB3A4DD000}" srcOrd="0" destOrd="0" presId="urn:microsoft.com/office/officeart/2016/7/layout/BasicLinearProcessNumbered"/>
    <dgm:cxn modelId="{F5B5DE9E-663B-4E2A-8945-DC8E7235DFF8}" type="presParOf" srcId="{41578FA7-17C7-4A35-A7D0-7D1A45A941E7}" destId="{97B206D1-D87A-4496-826E-2BE2FA606BC1}" srcOrd="1" destOrd="0" presId="urn:microsoft.com/office/officeart/2016/7/layout/BasicLinearProcessNumbered"/>
    <dgm:cxn modelId="{3FAD0FDE-183C-4384-A151-A4D898D910AF}" type="presParOf" srcId="{41578FA7-17C7-4A35-A7D0-7D1A45A941E7}" destId="{988976E0-9099-44C5-AD3E-BB9766CA5D67}" srcOrd="2" destOrd="0" presId="urn:microsoft.com/office/officeart/2016/7/layout/BasicLinearProcessNumbered"/>
    <dgm:cxn modelId="{5FA0BF9C-9692-4B80-871C-0D24B5255D9C}" type="presParOf" srcId="{41578FA7-17C7-4A35-A7D0-7D1A45A941E7}" destId="{6175B6DA-1C9A-4E48-B036-0D00C7960B6B}" srcOrd="3" destOrd="0" presId="urn:microsoft.com/office/officeart/2016/7/layout/BasicLinearProcessNumbered"/>
    <dgm:cxn modelId="{16402751-76E6-4CEB-B8A5-84436283B7D8}" type="presParOf" srcId="{2A8485D6-85E2-4EFF-B3F0-D68E0C299740}" destId="{BE8D67FB-E3A5-4DC5-8857-A70F369BEEE6}" srcOrd="3" destOrd="0" presId="urn:microsoft.com/office/officeart/2016/7/layout/BasicLinearProcessNumbered"/>
    <dgm:cxn modelId="{9097BE3D-5639-4A0B-A52C-EADC5907D73B}" type="presParOf" srcId="{2A8485D6-85E2-4EFF-B3F0-D68E0C299740}" destId="{DC9B7375-9DB4-4725-9827-6A857144CE3B}" srcOrd="4" destOrd="0" presId="urn:microsoft.com/office/officeart/2016/7/layout/BasicLinearProcessNumbered"/>
    <dgm:cxn modelId="{66429C3D-4938-4137-928A-C0D78F4D6D99}" type="presParOf" srcId="{DC9B7375-9DB4-4725-9827-6A857144CE3B}" destId="{75DC78E8-26D5-436F-A1FB-A1AE1AF6A2C4}" srcOrd="0" destOrd="0" presId="urn:microsoft.com/office/officeart/2016/7/layout/BasicLinearProcessNumbered"/>
    <dgm:cxn modelId="{6AF003E6-4D99-4571-B720-F5A5CADCAFF7}" type="presParOf" srcId="{DC9B7375-9DB4-4725-9827-6A857144CE3B}" destId="{16A0AC74-C0E0-4E35-80B4-B0F967F76E55}" srcOrd="1" destOrd="0" presId="urn:microsoft.com/office/officeart/2016/7/layout/BasicLinearProcessNumbered"/>
    <dgm:cxn modelId="{B94A0110-EB54-4553-AA8A-503F390CA0C0}" type="presParOf" srcId="{DC9B7375-9DB4-4725-9827-6A857144CE3B}" destId="{709AFEA6-9ADB-49D4-85C2-58DFE9FDC618}" srcOrd="2" destOrd="0" presId="urn:microsoft.com/office/officeart/2016/7/layout/BasicLinearProcessNumbered"/>
    <dgm:cxn modelId="{C206C6DE-2B2B-4911-A609-1381DEBDA93A}" type="presParOf" srcId="{DC9B7375-9DB4-4725-9827-6A857144CE3B}" destId="{6C21624A-5849-43C6-A4DD-9D3DEBFA34E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DD37D3-E425-4581-8C11-D93FCC84CB0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015D994-BC6F-4730-A64A-25FF8D86B004}">
      <dgm:prSet/>
      <dgm:spPr/>
      <dgm:t>
        <a:bodyPr/>
        <a:lstStyle/>
        <a:p>
          <a:r>
            <a:rPr lang="en-US" b="0" i="0"/>
            <a:t>Monthly New Clients</a:t>
          </a:r>
          <a:endParaRPr lang="en-US"/>
        </a:p>
      </dgm:t>
    </dgm:pt>
    <dgm:pt modelId="{FA03D471-951F-4FDE-8D32-98CE705D5D2E}" type="parTrans" cxnId="{F0176626-A64C-4D78-AC38-A3CAE8026167}">
      <dgm:prSet/>
      <dgm:spPr/>
      <dgm:t>
        <a:bodyPr/>
        <a:lstStyle/>
        <a:p>
          <a:endParaRPr lang="en-US"/>
        </a:p>
      </dgm:t>
    </dgm:pt>
    <dgm:pt modelId="{DFE215CA-C2CF-4410-8963-68E30594532E}" type="sibTrans" cxnId="{F0176626-A64C-4D78-AC38-A3CAE8026167}">
      <dgm:prSet/>
      <dgm:spPr/>
      <dgm:t>
        <a:bodyPr/>
        <a:lstStyle/>
        <a:p>
          <a:endParaRPr lang="en-US"/>
        </a:p>
      </dgm:t>
    </dgm:pt>
    <dgm:pt modelId="{FD3BF245-36AB-4AEC-ADA6-5D1232FBE1B4}">
      <dgm:prSet/>
      <dgm:spPr/>
      <dgm:t>
        <a:bodyPr/>
        <a:lstStyle/>
        <a:p>
          <a:r>
            <a:rPr lang="en-US" b="0" i="0"/>
            <a:t>Average Assets</a:t>
          </a:r>
          <a:endParaRPr lang="en-US"/>
        </a:p>
      </dgm:t>
    </dgm:pt>
    <dgm:pt modelId="{A2A9A31F-F894-428E-986A-0E546A062E08}" type="parTrans" cxnId="{D3013DA9-5EDA-4C12-957A-543735DE9384}">
      <dgm:prSet/>
      <dgm:spPr/>
      <dgm:t>
        <a:bodyPr/>
        <a:lstStyle/>
        <a:p>
          <a:endParaRPr lang="en-US"/>
        </a:p>
      </dgm:t>
    </dgm:pt>
    <dgm:pt modelId="{4FE6ABEF-6EF3-4291-AD77-7538C5A8009D}" type="sibTrans" cxnId="{D3013DA9-5EDA-4C12-957A-543735DE9384}">
      <dgm:prSet/>
      <dgm:spPr/>
      <dgm:t>
        <a:bodyPr/>
        <a:lstStyle/>
        <a:p>
          <a:endParaRPr lang="en-US"/>
        </a:p>
      </dgm:t>
    </dgm:pt>
    <dgm:pt modelId="{A22A715B-4712-4451-A1EA-FD51C195DBFF}">
      <dgm:prSet/>
      <dgm:spPr/>
      <dgm:t>
        <a:bodyPr/>
        <a:lstStyle/>
        <a:p>
          <a:r>
            <a:rPr lang="en-US" b="0" i="0"/>
            <a:t>High Value Clients</a:t>
          </a:r>
          <a:endParaRPr lang="en-US"/>
        </a:p>
      </dgm:t>
    </dgm:pt>
    <dgm:pt modelId="{9C5A7DBC-181D-4F47-86D3-CC39ABA17DF3}" type="parTrans" cxnId="{C155A14B-0521-44DC-B9D6-69305A48183A}">
      <dgm:prSet/>
      <dgm:spPr/>
      <dgm:t>
        <a:bodyPr/>
        <a:lstStyle/>
        <a:p>
          <a:endParaRPr lang="en-US"/>
        </a:p>
      </dgm:t>
    </dgm:pt>
    <dgm:pt modelId="{552D46D2-614D-4FD2-92A6-794E46E95F55}" type="sibTrans" cxnId="{C155A14B-0521-44DC-B9D6-69305A48183A}">
      <dgm:prSet/>
      <dgm:spPr/>
      <dgm:t>
        <a:bodyPr/>
        <a:lstStyle/>
        <a:p>
          <a:endParaRPr lang="en-US"/>
        </a:p>
      </dgm:t>
    </dgm:pt>
    <dgm:pt modelId="{E2EDAD9D-CCFB-4234-A238-FC90EFB96A09}" type="pres">
      <dgm:prSet presAssocID="{1EDD37D3-E425-4581-8C11-D93FCC84CB0E}" presName="root" presStyleCnt="0">
        <dgm:presLayoutVars>
          <dgm:dir/>
          <dgm:resizeHandles val="exact"/>
        </dgm:presLayoutVars>
      </dgm:prSet>
      <dgm:spPr/>
    </dgm:pt>
    <dgm:pt modelId="{CA8CCEF7-F36A-400A-A6A7-966E94D86D83}" type="pres">
      <dgm:prSet presAssocID="{7015D994-BC6F-4730-A64A-25FF8D86B004}" presName="compNode" presStyleCnt="0"/>
      <dgm:spPr/>
    </dgm:pt>
    <dgm:pt modelId="{13BE7A4F-1865-42C7-9EA7-0FF07AB220F5}" type="pres">
      <dgm:prSet presAssocID="{7015D994-BC6F-4730-A64A-25FF8D86B0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87FC91F-2952-452D-BF8E-F30BD45BAFD9}" type="pres">
      <dgm:prSet presAssocID="{7015D994-BC6F-4730-A64A-25FF8D86B004}" presName="spaceRect" presStyleCnt="0"/>
      <dgm:spPr/>
    </dgm:pt>
    <dgm:pt modelId="{F959329C-9018-421C-86B1-2AE7CCF02A92}" type="pres">
      <dgm:prSet presAssocID="{7015D994-BC6F-4730-A64A-25FF8D86B004}" presName="textRect" presStyleLbl="revTx" presStyleIdx="0" presStyleCnt="3">
        <dgm:presLayoutVars>
          <dgm:chMax val="1"/>
          <dgm:chPref val="1"/>
        </dgm:presLayoutVars>
      </dgm:prSet>
      <dgm:spPr/>
    </dgm:pt>
    <dgm:pt modelId="{2D1FC2F5-2508-4EDC-BD1B-84314F475CE3}" type="pres">
      <dgm:prSet presAssocID="{DFE215CA-C2CF-4410-8963-68E30594532E}" presName="sibTrans" presStyleCnt="0"/>
      <dgm:spPr/>
    </dgm:pt>
    <dgm:pt modelId="{8A16CF28-02E5-4CE9-89C3-8D9AB71CB03C}" type="pres">
      <dgm:prSet presAssocID="{FD3BF245-36AB-4AEC-ADA6-5D1232FBE1B4}" presName="compNode" presStyleCnt="0"/>
      <dgm:spPr/>
    </dgm:pt>
    <dgm:pt modelId="{FD9387D9-54AB-4D1F-B427-90EE3645CEC6}" type="pres">
      <dgm:prSet presAssocID="{FD3BF245-36AB-4AEC-ADA6-5D1232FBE1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37DB2B01-BDED-4298-9719-79CD807C5110}" type="pres">
      <dgm:prSet presAssocID="{FD3BF245-36AB-4AEC-ADA6-5D1232FBE1B4}" presName="spaceRect" presStyleCnt="0"/>
      <dgm:spPr/>
    </dgm:pt>
    <dgm:pt modelId="{03B2D4F6-D504-41ED-87CB-40A88217ADFB}" type="pres">
      <dgm:prSet presAssocID="{FD3BF245-36AB-4AEC-ADA6-5D1232FBE1B4}" presName="textRect" presStyleLbl="revTx" presStyleIdx="1" presStyleCnt="3">
        <dgm:presLayoutVars>
          <dgm:chMax val="1"/>
          <dgm:chPref val="1"/>
        </dgm:presLayoutVars>
      </dgm:prSet>
      <dgm:spPr/>
    </dgm:pt>
    <dgm:pt modelId="{1E5E187C-64A0-49B6-9424-EC007FB29CB0}" type="pres">
      <dgm:prSet presAssocID="{4FE6ABEF-6EF3-4291-AD77-7538C5A8009D}" presName="sibTrans" presStyleCnt="0"/>
      <dgm:spPr/>
    </dgm:pt>
    <dgm:pt modelId="{55A052C9-6CBA-4828-8AE7-499541D1F1B6}" type="pres">
      <dgm:prSet presAssocID="{A22A715B-4712-4451-A1EA-FD51C195DBFF}" presName="compNode" presStyleCnt="0"/>
      <dgm:spPr/>
    </dgm:pt>
    <dgm:pt modelId="{2BAEB725-0536-4FA6-A1AB-D74AEF0D7F07}" type="pres">
      <dgm:prSet presAssocID="{A22A715B-4712-4451-A1EA-FD51C195DB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7481CC6-D1F5-4A36-9F4B-6136BD6FB9FD}" type="pres">
      <dgm:prSet presAssocID="{A22A715B-4712-4451-A1EA-FD51C195DBFF}" presName="spaceRect" presStyleCnt="0"/>
      <dgm:spPr/>
    </dgm:pt>
    <dgm:pt modelId="{A04E4D50-0547-4780-9DA0-647E7D26021E}" type="pres">
      <dgm:prSet presAssocID="{A22A715B-4712-4451-A1EA-FD51C195DBF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34ED118-5B34-4279-B4C1-7A1C5CC56F85}" type="presOf" srcId="{1EDD37D3-E425-4581-8C11-D93FCC84CB0E}" destId="{E2EDAD9D-CCFB-4234-A238-FC90EFB96A09}" srcOrd="0" destOrd="0" presId="urn:microsoft.com/office/officeart/2018/2/layout/IconLabelList"/>
    <dgm:cxn modelId="{F0176626-A64C-4D78-AC38-A3CAE8026167}" srcId="{1EDD37D3-E425-4581-8C11-D93FCC84CB0E}" destId="{7015D994-BC6F-4730-A64A-25FF8D86B004}" srcOrd="0" destOrd="0" parTransId="{FA03D471-951F-4FDE-8D32-98CE705D5D2E}" sibTransId="{DFE215CA-C2CF-4410-8963-68E30594532E}"/>
    <dgm:cxn modelId="{C155A14B-0521-44DC-B9D6-69305A48183A}" srcId="{1EDD37D3-E425-4581-8C11-D93FCC84CB0E}" destId="{A22A715B-4712-4451-A1EA-FD51C195DBFF}" srcOrd="2" destOrd="0" parTransId="{9C5A7DBC-181D-4F47-86D3-CC39ABA17DF3}" sibTransId="{552D46D2-614D-4FD2-92A6-794E46E95F55}"/>
    <dgm:cxn modelId="{A433D450-568A-4579-ABFF-217E4B414C56}" type="presOf" srcId="{7015D994-BC6F-4730-A64A-25FF8D86B004}" destId="{F959329C-9018-421C-86B1-2AE7CCF02A92}" srcOrd="0" destOrd="0" presId="urn:microsoft.com/office/officeart/2018/2/layout/IconLabelList"/>
    <dgm:cxn modelId="{25E85972-D8DB-4DDC-B23E-30E84A3270F7}" type="presOf" srcId="{FD3BF245-36AB-4AEC-ADA6-5D1232FBE1B4}" destId="{03B2D4F6-D504-41ED-87CB-40A88217ADFB}" srcOrd="0" destOrd="0" presId="urn:microsoft.com/office/officeart/2018/2/layout/IconLabelList"/>
    <dgm:cxn modelId="{D3013DA9-5EDA-4C12-957A-543735DE9384}" srcId="{1EDD37D3-E425-4581-8C11-D93FCC84CB0E}" destId="{FD3BF245-36AB-4AEC-ADA6-5D1232FBE1B4}" srcOrd="1" destOrd="0" parTransId="{A2A9A31F-F894-428E-986A-0E546A062E08}" sibTransId="{4FE6ABEF-6EF3-4291-AD77-7538C5A8009D}"/>
    <dgm:cxn modelId="{A22068A9-A322-452A-A9B8-E08D9FFA783E}" type="presOf" srcId="{A22A715B-4712-4451-A1EA-FD51C195DBFF}" destId="{A04E4D50-0547-4780-9DA0-647E7D26021E}" srcOrd="0" destOrd="0" presId="urn:microsoft.com/office/officeart/2018/2/layout/IconLabelList"/>
    <dgm:cxn modelId="{370A0080-CF21-4623-A6F1-67CB1A25B5AA}" type="presParOf" srcId="{E2EDAD9D-CCFB-4234-A238-FC90EFB96A09}" destId="{CA8CCEF7-F36A-400A-A6A7-966E94D86D83}" srcOrd="0" destOrd="0" presId="urn:microsoft.com/office/officeart/2018/2/layout/IconLabelList"/>
    <dgm:cxn modelId="{EA8A4C8B-FB30-48D1-A9F6-8028A2EEECD4}" type="presParOf" srcId="{CA8CCEF7-F36A-400A-A6A7-966E94D86D83}" destId="{13BE7A4F-1865-42C7-9EA7-0FF07AB220F5}" srcOrd="0" destOrd="0" presId="urn:microsoft.com/office/officeart/2018/2/layout/IconLabelList"/>
    <dgm:cxn modelId="{1789590A-851D-44F8-9B06-AA4FD89A719C}" type="presParOf" srcId="{CA8CCEF7-F36A-400A-A6A7-966E94D86D83}" destId="{787FC91F-2952-452D-BF8E-F30BD45BAFD9}" srcOrd="1" destOrd="0" presId="urn:microsoft.com/office/officeart/2018/2/layout/IconLabelList"/>
    <dgm:cxn modelId="{2CD23CBD-34A9-4DCA-8D65-538E05D709AB}" type="presParOf" srcId="{CA8CCEF7-F36A-400A-A6A7-966E94D86D83}" destId="{F959329C-9018-421C-86B1-2AE7CCF02A92}" srcOrd="2" destOrd="0" presId="urn:microsoft.com/office/officeart/2018/2/layout/IconLabelList"/>
    <dgm:cxn modelId="{E40B6AB1-1B21-443F-AC42-6D53511CC145}" type="presParOf" srcId="{E2EDAD9D-CCFB-4234-A238-FC90EFB96A09}" destId="{2D1FC2F5-2508-4EDC-BD1B-84314F475CE3}" srcOrd="1" destOrd="0" presId="urn:microsoft.com/office/officeart/2018/2/layout/IconLabelList"/>
    <dgm:cxn modelId="{96985F6A-7214-449F-9A37-F954286CB600}" type="presParOf" srcId="{E2EDAD9D-CCFB-4234-A238-FC90EFB96A09}" destId="{8A16CF28-02E5-4CE9-89C3-8D9AB71CB03C}" srcOrd="2" destOrd="0" presId="urn:microsoft.com/office/officeart/2018/2/layout/IconLabelList"/>
    <dgm:cxn modelId="{876A38DA-A8DA-44A0-9504-15C1683B31B7}" type="presParOf" srcId="{8A16CF28-02E5-4CE9-89C3-8D9AB71CB03C}" destId="{FD9387D9-54AB-4D1F-B427-90EE3645CEC6}" srcOrd="0" destOrd="0" presId="urn:microsoft.com/office/officeart/2018/2/layout/IconLabelList"/>
    <dgm:cxn modelId="{1E710D35-E857-4421-8D8A-7A7A8D98C4F8}" type="presParOf" srcId="{8A16CF28-02E5-4CE9-89C3-8D9AB71CB03C}" destId="{37DB2B01-BDED-4298-9719-79CD807C5110}" srcOrd="1" destOrd="0" presId="urn:microsoft.com/office/officeart/2018/2/layout/IconLabelList"/>
    <dgm:cxn modelId="{2F629441-D3DC-4871-B815-CFD483305FD7}" type="presParOf" srcId="{8A16CF28-02E5-4CE9-89C3-8D9AB71CB03C}" destId="{03B2D4F6-D504-41ED-87CB-40A88217ADFB}" srcOrd="2" destOrd="0" presId="urn:microsoft.com/office/officeart/2018/2/layout/IconLabelList"/>
    <dgm:cxn modelId="{D70B0D83-7795-442D-BFB5-B86B434975DF}" type="presParOf" srcId="{E2EDAD9D-CCFB-4234-A238-FC90EFB96A09}" destId="{1E5E187C-64A0-49B6-9424-EC007FB29CB0}" srcOrd="3" destOrd="0" presId="urn:microsoft.com/office/officeart/2018/2/layout/IconLabelList"/>
    <dgm:cxn modelId="{CF1069F6-14B2-496F-9359-17619D6F66B3}" type="presParOf" srcId="{E2EDAD9D-CCFB-4234-A238-FC90EFB96A09}" destId="{55A052C9-6CBA-4828-8AE7-499541D1F1B6}" srcOrd="4" destOrd="0" presId="urn:microsoft.com/office/officeart/2018/2/layout/IconLabelList"/>
    <dgm:cxn modelId="{33562133-A0DD-4790-B456-A2DBABF01E6B}" type="presParOf" srcId="{55A052C9-6CBA-4828-8AE7-499541D1F1B6}" destId="{2BAEB725-0536-4FA6-A1AB-D74AEF0D7F07}" srcOrd="0" destOrd="0" presId="urn:microsoft.com/office/officeart/2018/2/layout/IconLabelList"/>
    <dgm:cxn modelId="{9D6E5752-0DE4-4A50-9782-E3A0E4490F75}" type="presParOf" srcId="{55A052C9-6CBA-4828-8AE7-499541D1F1B6}" destId="{27481CC6-D1F5-4A36-9F4B-6136BD6FB9FD}" srcOrd="1" destOrd="0" presId="urn:microsoft.com/office/officeart/2018/2/layout/IconLabelList"/>
    <dgm:cxn modelId="{7DE22D3C-C217-4ED6-BD48-BD9FCAC16087}" type="presParOf" srcId="{55A052C9-6CBA-4828-8AE7-499541D1F1B6}" destId="{A04E4D50-0547-4780-9DA0-647E7D26021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94129B-FDB3-41E6-A2A4-80918AAD712E}">
      <dsp:nvSpPr>
        <dsp:cNvPr id="0" name=""/>
        <dsp:cNvSpPr/>
      </dsp:nvSpPr>
      <dsp:spPr>
        <a:xfrm>
          <a:off x="0" y="852586"/>
          <a:ext cx="6391275" cy="157400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999C2C-DD82-41D9-877F-CEE2BB916C90}">
      <dsp:nvSpPr>
        <dsp:cNvPr id="0" name=""/>
        <dsp:cNvSpPr/>
      </dsp:nvSpPr>
      <dsp:spPr>
        <a:xfrm>
          <a:off x="476136" y="1206738"/>
          <a:ext cx="865703" cy="8657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3AE56-1F17-4488-96DB-3C169D36020B}">
      <dsp:nvSpPr>
        <dsp:cNvPr id="0" name=""/>
        <dsp:cNvSpPr/>
      </dsp:nvSpPr>
      <dsp:spPr>
        <a:xfrm>
          <a:off x="1817977" y="852586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Kaden Lizama lives in Hawaii and is currently pursuing a BS degree in Software Development from Bellevue University.</a:t>
          </a:r>
          <a:endParaRPr lang="en-US" sz="1700" kern="1200"/>
        </a:p>
      </dsp:txBody>
      <dsp:txXfrm>
        <a:off x="1817977" y="852586"/>
        <a:ext cx="4573297" cy="1574006"/>
      </dsp:txXfrm>
    </dsp:sp>
    <dsp:sp modelId="{2A6BE926-DAC8-4733-80DA-796D9DB976E3}">
      <dsp:nvSpPr>
        <dsp:cNvPr id="0" name=""/>
        <dsp:cNvSpPr/>
      </dsp:nvSpPr>
      <dsp:spPr>
        <a:xfrm>
          <a:off x="0" y="2820094"/>
          <a:ext cx="6391275" cy="157400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6765F-9906-47DA-93A1-E0DCC01DA6DA}">
      <dsp:nvSpPr>
        <dsp:cNvPr id="0" name=""/>
        <dsp:cNvSpPr/>
      </dsp:nvSpPr>
      <dsp:spPr>
        <a:xfrm>
          <a:off x="476136" y="3174245"/>
          <a:ext cx="865703" cy="8657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85C590-0E10-4FB7-9D68-C57ACAEF2DA8}">
      <dsp:nvSpPr>
        <dsp:cNvPr id="0" name=""/>
        <dsp:cNvSpPr/>
      </dsp:nvSpPr>
      <dsp:spPr>
        <a:xfrm>
          <a:off x="1817977" y="2820094"/>
          <a:ext cx="4573297" cy="15740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582" tIns="166582" rIns="166582" bIns="16658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Gerald Oden is a Cybersecurity Manager living in Birmingham, Alabama and is currently pursuing a BS degree in Software Development from Bellevue University.</a:t>
          </a:r>
          <a:endParaRPr lang="en-US" sz="1700" kern="1200"/>
        </a:p>
      </dsp:txBody>
      <dsp:txXfrm>
        <a:off x="1817977" y="2820094"/>
        <a:ext cx="4573297" cy="15740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FAED2A-50C0-4E1A-A2ED-A80D67E0FC79}">
      <dsp:nvSpPr>
        <dsp:cNvPr id="0" name=""/>
        <dsp:cNvSpPr/>
      </dsp:nvSpPr>
      <dsp:spPr>
        <a:xfrm>
          <a:off x="2806107" y="610759"/>
          <a:ext cx="470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379" y="45720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8773" y="653972"/>
        <a:ext cx="25048" cy="5014"/>
      </dsp:txXfrm>
    </dsp:sp>
    <dsp:sp modelId="{66940936-F49A-49A1-A361-67E9E017C332}">
      <dsp:nvSpPr>
        <dsp:cNvPr id="0" name=""/>
        <dsp:cNvSpPr/>
      </dsp:nvSpPr>
      <dsp:spPr>
        <a:xfrm>
          <a:off x="629733" y="3027"/>
          <a:ext cx="2178173" cy="13069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732" tIns="112034" rIns="106732" bIns="1120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Ned and Jake Willson have long shared an interest in Finance and Investing.</a:t>
          </a:r>
        </a:p>
      </dsp:txBody>
      <dsp:txXfrm>
        <a:off x="629733" y="3027"/>
        <a:ext cx="2178173" cy="1306904"/>
      </dsp:txXfrm>
    </dsp:sp>
    <dsp:sp modelId="{E6CC6925-A6B6-47C0-A7C9-4C50B29DBF63}">
      <dsp:nvSpPr>
        <dsp:cNvPr id="0" name=""/>
        <dsp:cNvSpPr/>
      </dsp:nvSpPr>
      <dsp:spPr>
        <a:xfrm>
          <a:off x="1718820" y="1308131"/>
          <a:ext cx="2679153" cy="470379"/>
        </a:xfrm>
        <a:custGeom>
          <a:avLst/>
          <a:gdLst/>
          <a:ahLst/>
          <a:cxnLst/>
          <a:rect l="0" t="0" r="0" b="0"/>
          <a:pathLst>
            <a:path>
              <a:moveTo>
                <a:pt x="2679153" y="0"/>
              </a:moveTo>
              <a:lnTo>
                <a:pt x="2679153" y="252289"/>
              </a:lnTo>
              <a:lnTo>
                <a:pt x="0" y="252289"/>
              </a:lnTo>
              <a:lnTo>
                <a:pt x="0" y="470379"/>
              </a:lnTo>
            </a:path>
          </a:pathLst>
        </a:custGeom>
        <a:noFill/>
        <a:ln w="9525" cap="rnd" cmpd="sng" algn="ctr">
          <a:solidFill>
            <a:schemeClr val="accent2">
              <a:hueOff val="-4941430"/>
              <a:satOff val="225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257" y="1540814"/>
        <a:ext cx="136279" cy="5014"/>
      </dsp:txXfrm>
    </dsp:sp>
    <dsp:sp modelId="{92AF8E85-24E4-4CDB-B7DA-4C0F9A584C45}">
      <dsp:nvSpPr>
        <dsp:cNvPr id="0" name=""/>
        <dsp:cNvSpPr/>
      </dsp:nvSpPr>
      <dsp:spPr>
        <a:xfrm>
          <a:off x="3308887" y="3027"/>
          <a:ext cx="2178173" cy="1306904"/>
        </a:xfrm>
        <a:prstGeom prst="rect">
          <a:avLst/>
        </a:prstGeom>
        <a:solidFill>
          <a:schemeClr val="accent2">
            <a:hueOff val="-3953144"/>
            <a:satOff val="18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732" tIns="112034" rIns="106732" bIns="1120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brothers each pursued finance degrees. Ned continued to complete his MBA.</a:t>
          </a:r>
        </a:p>
      </dsp:txBody>
      <dsp:txXfrm>
        <a:off x="3308887" y="3027"/>
        <a:ext cx="2178173" cy="1306904"/>
      </dsp:txXfrm>
    </dsp:sp>
    <dsp:sp modelId="{DB5B6979-60D0-4D04-9D0D-D16251E15CD8}">
      <dsp:nvSpPr>
        <dsp:cNvPr id="0" name=""/>
        <dsp:cNvSpPr/>
      </dsp:nvSpPr>
      <dsp:spPr>
        <a:xfrm>
          <a:off x="2806107" y="2418644"/>
          <a:ext cx="470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379" y="45720"/>
              </a:lnTo>
            </a:path>
          </a:pathLst>
        </a:custGeom>
        <a:noFill/>
        <a:ln w="9525" cap="rnd" cmpd="sng" algn="ctr">
          <a:solidFill>
            <a:schemeClr val="accent2">
              <a:hueOff val="-9882860"/>
              <a:satOff val="451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8773" y="2461856"/>
        <a:ext cx="25048" cy="5014"/>
      </dsp:txXfrm>
    </dsp:sp>
    <dsp:sp modelId="{5B09A67E-6C20-4A96-BF7D-D63DAD10DF58}">
      <dsp:nvSpPr>
        <dsp:cNvPr id="0" name=""/>
        <dsp:cNvSpPr/>
      </dsp:nvSpPr>
      <dsp:spPr>
        <a:xfrm>
          <a:off x="629733" y="1810911"/>
          <a:ext cx="2178173" cy="1306904"/>
        </a:xfrm>
        <a:prstGeom prst="rect">
          <a:avLst/>
        </a:prstGeom>
        <a:solidFill>
          <a:schemeClr val="accent2">
            <a:hueOff val="-7906288"/>
            <a:satOff val="36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732" tIns="112034" rIns="106732" bIns="1120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Ned and Jake founded Willson Financial after each passing their Chartered Financial Analyst license.</a:t>
          </a:r>
        </a:p>
      </dsp:txBody>
      <dsp:txXfrm>
        <a:off x="629733" y="1810911"/>
        <a:ext cx="2178173" cy="1306904"/>
      </dsp:txXfrm>
    </dsp:sp>
    <dsp:sp modelId="{F95DD876-3D27-43A1-89A4-722FA05E12EB}">
      <dsp:nvSpPr>
        <dsp:cNvPr id="0" name=""/>
        <dsp:cNvSpPr/>
      </dsp:nvSpPr>
      <dsp:spPr>
        <a:xfrm>
          <a:off x="1718820" y="3116016"/>
          <a:ext cx="2679153" cy="470379"/>
        </a:xfrm>
        <a:custGeom>
          <a:avLst/>
          <a:gdLst/>
          <a:ahLst/>
          <a:cxnLst/>
          <a:rect l="0" t="0" r="0" b="0"/>
          <a:pathLst>
            <a:path>
              <a:moveTo>
                <a:pt x="2679153" y="0"/>
              </a:moveTo>
              <a:lnTo>
                <a:pt x="2679153" y="252289"/>
              </a:lnTo>
              <a:lnTo>
                <a:pt x="0" y="252289"/>
              </a:lnTo>
              <a:lnTo>
                <a:pt x="0" y="470379"/>
              </a:lnTo>
            </a:path>
          </a:pathLst>
        </a:custGeom>
        <a:noFill/>
        <a:ln w="9525" cap="rnd" cmpd="sng" algn="ctr">
          <a:solidFill>
            <a:schemeClr val="accent2">
              <a:hueOff val="-14824290"/>
              <a:satOff val="676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257" y="3348698"/>
        <a:ext cx="136279" cy="5014"/>
      </dsp:txXfrm>
    </dsp:sp>
    <dsp:sp modelId="{663DBA60-83FD-40F0-BB09-AF32D04767CF}">
      <dsp:nvSpPr>
        <dsp:cNvPr id="0" name=""/>
        <dsp:cNvSpPr/>
      </dsp:nvSpPr>
      <dsp:spPr>
        <a:xfrm>
          <a:off x="3308887" y="1810911"/>
          <a:ext cx="2178173" cy="1306904"/>
        </a:xfrm>
        <a:prstGeom prst="rect">
          <a:avLst/>
        </a:prstGeom>
        <a:solidFill>
          <a:schemeClr val="accent2">
            <a:hueOff val="-11859433"/>
            <a:satOff val="54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732" tIns="112034" rIns="106732" bIns="1120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Willson Financial targets successful ranchers, farmers and retirees in the local community.</a:t>
          </a:r>
        </a:p>
      </dsp:txBody>
      <dsp:txXfrm>
        <a:off x="3308887" y="1810911"/>
        <a:ext cx="2178173" cy="1306904"/>
      </dsp:txXfrm>
    </dsp:sp>
    <dsp:sp modelId="{CD31F173-1885-43D4-B118-D180267CDE36}">
      <dsp:nvSpPr>
        <dsp:cNvPr id="0" name=""/>
        <dsp:cNvSpPr/>
      </dsp:nvSpPr>
      <dsp:spPr>
        <a:xfrm>
          <a:off x="2806107" y="4226528"/>
          <a:ext cx="47037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0379" y="45720"/>
              </a:lnTo>
            </a:path>
          </a:pathLst>
        </a:custGeom>
        <a:noFill/>
        <a:ln w="9525" cap="rnd" cmpd="sng" algn="ctr">
          <a:solidFill>
            <a:schemeClr val="accent2">
              <a:hueOff val="-19765721"/>
              <a:satOff val="901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8773" y="4269740"/>
        <a:ext cx="25048" cy="5014"/>
      </dsp:txXfrm>
    </dsp:sp>
    <dsp:sp modelId="{7EC448B6-5992-4770-B766-204C3A9A8EB2}">
      <dsp:nvSpPr>
        <dsp:cNvPr id="0" name=""/>
        <dsp:cNvSpPr/>
      </dsp:nvSpPr>
      <dsp:spPr>
        <a:xfrm>
          <a:off x="629733" y="3618796"/>
          <a:ext cx="2178173" cy="1306904"/>
        </a:xfrm>
        <a:prstGeom prst="rect">
          <a:avLst/>
        </a:prstGeom>
        <a:solidFill>
          <a:schemeClr val="accent2">
            <a:hueOff val="-15812576"/>
            <a:satOff val="72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732" tIns="112034" rIns="106732" bIns="1120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Willson Financial elected to register with the Securities and Exchange Commission and must ensure compliance with SEC Regulations.</a:t>
          </a:r>
        </a:p>
      </dsp:txBody>
      <dsp:txXfrm>
        <a:off x="629733" y="3618796"/>
        <a:ext cx="2178173" cy="1306904"/>
      </dsp:txXfrm>
    </dsp:sp>
    <dsp:sp modelId="{8993AD2F-4BA4-4EB8-A22C-EA242187AF43}">
      <dsp:nvSpPr>
        <dsp:cNvPr id="0" name=""/>
        <dsp:cNvSpPr/>
      </dsp:nvSpPr>
      <dsp:spPr>
        <a:xfrm>
          <a:off x="3308887" y="3618796"/>
          <a:ext cx="2178173" cy="1306904"/>
        </a:xfrm>
        <a:prstGeom prst="rect">
          <a:avLst/>
        </a:prstGeom>
        <a:solidFill>
          <a:schemeClr val="accent2">
            <a:hueOff val="-19765721"/>
            <a:satOff val="901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732" tIns="112034" rIns="106732" bIns="11203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After hiring a full time office employee and a part time compliance manager, Willson Financial is examining their company data to analyze their business growth and perform a strategic review of their business.</a:t>
          </a:r>
        </a:p>
      </dsp:txBody>
      <dsp:txXfrm>
        <a:off x="3308887" y="3618796"/>
        <a:ext cx="2178173" cy="13069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DE8D0-A4F2-404A-9885-0D0E625388CE}">
      <dsp:nvSpPr>
        <dsp:cNvPr id="0" name=""/>
        <dsp:cNvSpPr/>
      </dsp:nvSpPr>
      <dsp:spPr>
        <a:xfrm>
          <a:off x="0" y="0"/>
          <a:ext cx="3007932" cy="308646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510" tIns="330200" rIns="23451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How many clients have been added for each of the last six months?</a:t>
          </a:r>
          <a:endParaRPr lang="en-US" sz="2000" kern="1200"/>
        </a:p>
      </dsp:txBody>
      <dsp:txXfrm>
        <a:off x="0" y="1172855"/>
        <a:ext cx="3007932" cy="1851876"/>
      </dsp:txXfrm>
    </dsp:sp>
    <dsp:sp modelId="{AF35D42D-745C-4540-8CBB-3977FFCD736D}">
      <dsp:nvSpPr>
        <dsp:cNvPr id="0" name=""/>
        <dsp:cNvSpPr/>
      </dsp:nvSpPr>
      <dsp:spPr>
        <a:xfrm>
          <a:off x="1040996" y="308646"/>
          <a:ext cx="925938" cy="925938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0" tIns="12700" rIns="721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1</a:t>
          </a:r>
        </a:p>
      </dsp:txBody>
      <dsp:txXfrm>
        <a:off x="1176596" y="444246"/>
        <a:ext cx="654738" cy="654738"/>
      </dsp:txXfrm>
    </dsp:sp>
    <dsp:sp modelId="{9F00288D-D93B-4E91-842F-594393D3241C}">
      <dsp:nvSpPr>
        <dsp:cNvPr id="0" name=""/>
        <dsp:cNvSpPr/>
      </dsp:nvSpPr>
      <dsp:spPr>
        <a:xfrm>
          <a:off x="0" y="3086389"/>
          <a:ext cx="3007932" cy="72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F25B02-A92F-4EF9-B414-C8BB3A4DD000}">
      <dsp:nvSpPr>
        <dsp:cNvPr id="0" name=""/>
        <dsp:cNvSpPr/>
      </dsp:nvSpPr>
      <dsp:spPr>
        <a:xfrm>
          <a:off x="3308725" y="0"/>
          <a:ext cx="3007932" cy="308646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510" tIns="330200" rIns="23451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What is the average amount of assets for the entire client list?</a:t>
          </a:r>
          <a:endParaRPr lang="en-US" sz="2000" kern="1200"/>
        </a:p>
      </dsp:txBody>
      <dsp:txXfrm>
        <a:off x="3308725" y="1172855"/>
        <a:ext cx="3007932" cy="1851876"/>
      </dsp:txXfrm>
    </dsp:sp>
    <dsp:sp modelId="{97B206D1-D87A-4496-826E-2BE2FA606BC1}">
      <dsp:nvSpPr>
        <dsp:cNvPr id="0" name=""/>
        <dsp:cNvSpPr/>
      </dsp:nvSpPr>
      <dsp:spPr>
        <a:xfrm>
          <a:off x="4349722" y="308646"/>
          <a:ext cx="925938" cy="925938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0" tIns="12700" rIns="721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2</a:t>
          </a:r>
        </a:p>
      </dsp:txBody>
      <dsp:txXfrm>
        <a:off x="4485322" y="444246"/>
        <a:ext cx="654738" cy="654738"/>
      </dsp:txXfrm>
    </dsp:sp>
    <dsp:sp modelId="{988976E0-9099-44C5-AD3E-BB9766CA5D67}">
      <dsp:nvSpPr>
        <dsp:cNvPr id="0" name=""/>
        <dsp:cNvSpPr/>
      </dsp:nvSpPr>
      <dsp:spPr>
        <a:xfrm>
          <a:off x="3308725" y="3086389"/>
          <a:ext cx="3007932" cy="7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DC78E8-26D5-436F-A1FB-A1AE1AF6A2C4}">
      <dsp:nvSpPr>
        <dsp:cNvPr id="0" name=""/>
        <dsp:cNvSpPr/>
      </dsp:nvSpPr>
      <dsp:spPr>
        <a:xfrm>
          <a:off x="6617450" y="0"/>
          <a:ext cx="3007932" cy="308646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510" tIns="330200" rIns="234510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How many clients have a high number (&gt;10) of transactions each month?</a:t>
          </a:r>
          <a:endParaRPr lang="en-US" sz="2000" kern="1200"/>
        </a:p>
      </dsp:txBody>
      <dsp:txXfrm>
        <a:off x="6617450" y="1172855"/>
        <a:ext cx="3007932" cy="1851876"/>
      </dsp:txXfrm>
    </dsp:sp>
    <dsp:sp modelId="{16A0AC74-C0E0-4E35-80B4-B0F967F76E55}">
      <dsp:nvSpPr>
        <dsp:cNvPr id="0" name=""/>
        <dsp:cNvSpPr/>
      </dsp:nvSpPr>
      <dsp:spPr>
        <a:xfrm>
          <a:off x="7658447" y="308646"/>
          <a:ext cx="925938" cy="925938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190" tIns="12700" rIns="72190" bIns="1270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3</a:t>
          </a:r>
        </a:p>
      </dsp:txBody>
      <dsp:txXfrm>
        <a:off x="7794047" y="444246"/>
        <a:ext cx="654738" cy="654738"/>
      </dsp:txXfrm>
    </dsp:sp>
    <dsp:sp modelId="{709AFEA6-9ADB-49D4-85C2-58DFE9FDC618}">
      <dsp:nvSpPr>
        <dsp:cNvPr id="0" name=""/>
        <dsp:cNvSpPr/>
      </dsp:nvSpPr>
      <dsp:spPr>
        <a:xfrm>
          <a:off x="6617450" y="3086389"/>
          <a:ext cx="3007932" cy="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E7A4F-1865-42C7-9EA7-0FF07AB220F5}">
      <dsp:nvSpPr>
        <dsp:cNvPr id="0" name=""/>
        <dsp:cNvSpPr/>
      </dsp:nvSpPr>
      <dsp:spPr>
        <a:xfrm>
          <a:off x="923249" y="552377"/>
          <a:ext cx="1250177" cy="12501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59329C-9018-421C-86B1-2AE7CCF02A92}">
      <dsp:nvSpPr>
        <dsp:cNvPr id="0" name=""/>
        <dsp:cNvSpPr/>
      </dsp:nvSpPr>
      <dsp:spPr>
        <a:xfrm>
          <a:off x="159251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Monthly New Clients</a:t>
          </a:r>
          <a:endParaRPr lang="en-US" sz="2500" kern="1200"/>
        </a:p>
      </dsp:txBody>
      <dsp:txXfrm>
        <a:off x="159251" y="2150305"/>
        <a:ext cx="2778172" cy="720000"/>
      </dsp:txXfrm>
    </dsp:sp>
    <dsp:sp modelId="{FD9387D9-54AB-4D1F-B427-90EE3645CEC6}">
      <dsp:nvSpPr>
        <dsp:cNvPr id="0" name=""/>
        <dsp:cNvSpPr/>
      </dsp:nvSpPr>
      <dsp:spPr>
        <a:xfrm>
          <a:off x="4187602" y="552377"/>
          <a:ext cx="1250177" cy="12501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2D4F6-D504-41ED-87CB-40A88217ADFB}">
      <dsp:nvSpPr>
        <dsp:cNvPr id="0" name=""/>
        <dsp:cNvSpPr/>
      </dsp:nvSpPr>
      <dsp:spPr>
        <a:xfrm>
          <a:off x="3423605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Average Assets</a:t>
          </a:r>
          <a:endParaRPr lang="en-US" sz="2500" kern="1200"/>
        </a:p>
      </dsp:txBody>
      <dsp:txXfrm>
        <a:off x="3423605" y="2150305"/>
        <a:ext cx="2778172" cy="720000"/>
      </dsp:txXfrm>
    </dsp:sp>
    <dsp:sp modelId="{2BAEB725-0536-4FA6-A1AB-D74AEF0D7F07}">
      <dsp:nvSpPr>
        <dsp:cNvPr id="0" name=""/>
        <dsp:cNvSpPr/>
      </dsp:nvSpPr>
      <dsp:spPr>
        <a:xfrm>
          <a:off x="7451955" y="552377"/>
          <a:ext cx="1250177" cy="12501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4E4D50-0547-4780-9DA0-647E7D26021E}">
      <dsp:nvSpPr>
        <dsp:cNvPr id="0" name=""/>
        <dsp:cNvSpPr/>
      </dsp:nvSpPr>
      <dsp:spPr>
        <a:xfrm>
          <a:off x="6687958" y="2150305"/>
          <a:ext cx="27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High Value Clients</a:t>
          </a:r>
          <a:endParaRPr lang="en-US" sz="2500" kern="1200"/>
        </a:p>
      </dsp:txBody>
      <dsp:txXfrm>
        <a:off x="6687958" y="2150305"/>
        <a:ext cx="277817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1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77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0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956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77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78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49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1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14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0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28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98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1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31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06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01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0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152BB79-BC7E-534C-A64F-3CE43C51C48F}" type="datetimeFigureOut">
              <a:rPr lang="en-US" smtClean="0"/>
              <a:t>7/25/24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7138D57E-9A63-CB4F-98BA-4E6258E83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250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C70096B-587B-857F-30F0-E8CC96B43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Willson Financial Case Study</a:t>
            </a:r>
            <a:br>
              <a:rPr lang="en-US" sz="6600">
                <a:solidFill>
                  <a:schemeClr val="tx1"/>
                </a:solidFill>
              </a:rPr>
            </a:br>
            <a:endParaRPr lang="en-US" sz="660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B9D548-ED15-D74B-26B3-B0C2F878D2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Kaden Lizama</a:t>
            </a:r>
          </a:p>
          <a:p>
            <a:pPr algn="r"/>
            <a:r>
              <a:rPr lang="en-US" sz="2000"/>
              <a:t>Gerald Oden</a:t>
            </a:r>
          </a:p>
          <a:p>
            <a:pPr algn="r"/>
            <a:r>
              <a:rPr lang="en-US" sz="2000"/>
              <a:t>CSD-310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1273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BCF048-8940-4354-B9EC-5AD74E283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24C14A-78BD-44B0-82BE-6A0D0A270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09F3D29-EDB1-4F1C-A0E0-36F28CE17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282F4AB-C7B8-4A86-9927-AA106AA27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0B26874-5AFA-4D1E-94A9-53AF9790D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1DA6C95-40F8-4305-89F6-17F6167C0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A2FA2D29-AEEE-4FFA-B233-94FBE84C9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DA5143E-FA8E-4EC1-99F7-35AE5AD4E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1A6CBA-E5DA-6CA5-CBE2-9AD42A938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Group Introduction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28BCC9-4093-4FD5-83EB-7EC297F5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A64BC3-9586-1CD0-CD67-A2BD36567C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979904"/>
              </p:ext>
            </p:extLst>
          </p:nvPr>
        </p:nvGraphicFramePr>
        <p:xfrm>
          <a:off x="5194300" y="808038"/>
          <a:ext cx="6391275" cy="5246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75002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000C36E-AAFD-4188-BB55-FAE4A8272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CB6D4A-4ADE-4BAF-BB67-7E9E8AB2C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343043" y="402165"/>
            <a:ext cx="6738659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065753A-F15B-43F6-B811-03D543426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9519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219AED55-7F29-4A42-9B4E-43EA0551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677511" flipH="1">
            <a:off x="6355223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3394EDF3-F539-40F8-9354-FE02885829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512068" y="2801721"/>
            <a:ext cx="6053670" cy="1254558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5236E71-242B-4CE7-96BC-B66F91F9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81884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683A5930-ABB0-4C7A-8E96-AB945DFB0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flipH="1"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F1E4C-A4F7-21D6-235F-F424045F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239" y="973667"/>
            <a:ext cx="2942210" cy="483374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Background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E51D9F-DA72-49DE-9183-76B062B3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B71CDD8-0530-BCD6-F1B3-F47983BF6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863777"/>
              </p:ext>
            </p:extLst>
          </p:nvPr>
        </p:nvGraphicFramePr>
        <p:xfrm>
          <a:off x="964907" y="973667"/>
          <a:ext cx="6116795" cy="4928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97068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FF1E4C-A4F7-21D6-235F-F424045FB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Entity Relationships</a:t>
            </a:r>
          </a:p>
        </p:txBody>
      </p:sp>
      <p:pic>
        <p:nvPicPr>
          <p:cNvPr id="4" name="Picture 3" descr="A diagram of a company&#10;&#10;Description automatically generated">
            <a:extLst>
              <a:ext uri="{FF2B5EF4-FFF2-40B4-BE49-F238E27FC236}">
                <a16:creationId xmlns:a16="http://schemas.microsoft.com/office/drawing/2014/main" id="{EAF8EDB3-D3FD-5AC6-2A5D-F2FE53F8A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18364" y="803751"/>
            <a:ext cx="5344019" cy="5250498"/>
          </a:xfrm>
          <a:prstGeom prst="rect">
            <a:avLst/>
          </a:pr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7C5DE-73DA-C7E3-2D4D-48777D6D8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following diagram represents the Willson Financial Database and its entity relationships: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45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758B-5E42-82FA-6453-1269A019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Business Questions?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FA7A17-9B70-B30E-4BC1-3E4E0521F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7307738"/>
              </p:ext>
            </p:extLst>
          </p:nvPr>
        </p:nvGraphicFramePr>
        <p:xfrm>
          <a:off x="1286934" y="2925232"/>
          <a:ext cx="9625383" cy="30864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559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F448CB3-7B4F-45D7-B7C0-DF553DF61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5305EA-7A88-413D-BE8A-47A02476F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FCA94DB5-FE56-4A3D-BC48-31B559519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1E2EA8-176F-C970-FA05-EDBF7CD27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Reports Overview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ED434F-8767-46CC-B26B-5AF62FF01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9101AA-A688-AF83-DF7B-7B52E47E86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215719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5104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BB740-AD74-E1EE-F3BC-FFCF7FF9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EBEBEB"/>
                </a:solidFill>
              </a:rPr>
              <a:t>Monthly New Clients Report</a:t>
            </a:r>
          </a:p>
        </p:txBody>
      </p:sp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52107B61-3FC0-EC6A-79A3-127557052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2614079"/>
            <a:ext cx="6391533" cy="162984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3D-792E-F3FA-EB61-87FC612A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rgbClr val="FFFFFF"/>
                </a:solidFill>
              </a:rPr>
              <a:t>This report will show how many clients have been added for each of the past six months.</a:t>
            </a:r>
          </a:p>
          <a:p>
            <a:r>
              <a:rPr lang="en-US" sz="1700">
                <a:solidFill>
                  <a:srgbClr val="FFFFFF"/>
                </a:solidFill>
              </a:rPr>
              <a:t>This helps to understand the growth of the client base over time.</a:t>
            </a:r>
          </a:p>
          <a:p>
            <a:r>
              <a:rPr lang="en-US" sz="1700">
                <a:solidFill>
                  <a:srgbClr val="FFFFFF"/>
                </a:solidFill>
              </a:rPr>
              <a:t>In order to ensure that the resulting data is displayed cleanly, we installed the pandas Python module.</a:t>
            </a:r>
          </a:p>
          <a:p>
            <a:r>
              <a:rPr lang="en-US" sz="1700">
                <a:solidFill>
                  <a:srgbClr val="FFFFFF"/>
                </a:solidFill>
              </a:rPr>
              <a:t>Sample report output:</a:t>
            </a: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1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BB740-AD74-E1EE-F3BC-FFCF7FF9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Average Assets Report</a:t>
            </a:r>
          </a:p>
        </p:txBody>
      </p:sp>
      <p:pic>
        <p:nvPicPr>
          <p:cNvPr id="4" name="Picture 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F87F9B9B-8F33-1AF4-8A83-F926A7F80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2749900"/>
            <a:ext cx="6391533" cy="13582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3D-792E-F3FA-EB61-87FC612A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This report will provide the average amount of assets for the entire client lists.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As our business grows, we should expect the average assets to grow with us.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In order to ensure that the resulting data is displayed cleanly, we installed the pandas Python module.</a:t>
            </a:r>
          </a:p>
          <a:p>
            <a:pPr>
              <a:lnSpc>
                <a:spcPct val="90000"/>
              </a:lnSpc>
            </a:pPr>
            <a:r>
              <a:rPr lang="en-US" sz="1700">
                <a:solidFill>
                  <a:srgbClr val="FFFFFF"/>
                </a:solidFill>
              </a:rPr>
              <a:t>Sample report output:</a:t>
            </a:r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16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43780CE-2BE5-46F6-97B2-60DF30217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1A87A49-68E6-459E-A5A6-46229FF42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F6ACD5FC-CAFE-48EB-B765-60EED2E0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5BB740-AD74-E1EE-F3BC-FFCF7FF9F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EBEBEB"/>
                </a:solidFill>
              </a:rPr>
              <a:t>High Value Clients Report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2F57DBD3-6984-19C1-7056-9869A93BE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2717942"/>
            <a:ext cx="6391533" cy="142211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F33B405-D785-4738-B1C0-6A0AA5E98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33DC0E-DE6C-4FB6-A529-51B162641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870477F-E451-4BC3-863F-0E2FC5728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A53D-792E-F3FA-EB61-87FC612A8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>
                <a:solidFill>
                  <a:srgbClr val="FFFFFF"/>
                </a:solidFill>
              </a:rPr>
              <a:t>This report will help us identify and understand our clients with more than 10 transactions per month.</a:t>
            </a:r>
          </a:p>
          <a:p>
            <a:pPr>
              <a:lnSpc>
                <a:spcPct val="90000"/>
              </a:lnSpc>
            </a:pPr>
            <a:r>
              <a:rPr lang="en-US" sz="1300">
                <a:solidFill>
                  <a:srgbClr val="FFFFFF"/>
                </a:solidFill>
              </a:rPr>
              <a:t>Currently, our most active clients only have 3 transactions per month, so we have scaled the report to identify our most active clients today.</a:t>
            </a:r>
          </a:p>
          <a:p>
            <a:pPr>
              <a:lnSpc>
                <a:spcPct val="90000"/>
              </a:lnSpc>
            </a:pPr>
            <a:r>
              <a:rPr lang="en-US" sz="1300">
                <a:solidFill>
                  <a:srgbClr val="FFFFFF"/>
                </a:solidFill>
              </a:rPr>
              <a:t>In the future, we can extend this report to identify clients with more than 10 transactions per month.</a:t>
            </a:r>
          </a:p>
          <a:p>
            <a:pPr>
              <a:lnSpc>
                <a:spcPct val="90000"/>
              </a:lnSpc>
            </a:pPr>
            <a:r>
              <a:rPr lang="en-US" sz="1300">
                <a:solidFill>
                  <a:srgbClr val="FFFFFF"/>
                </a:solidFill>
              </a:rPr>
              <a:t>In order to ensure that the resulting data is displayed cleanly, we installed the pandas Python module.</a:t>
            </a:r>
          </a:p>
          <a:p>
            <a:pPr>
              <a:lnSpc>
                <a:spcPct val="90000"/>
              </a:lnSpc>
            </a:pPr>
            <a:r>
              <a:rPr lang="en-US" sz="1300">
                <a:solidFill>
                  <a:srgbClr val="FFFFFF"/>
                </a:solidFill>
              </a:rPr>
              <a:t>Sample report output:</a:t>
            </a:r>
          </a:p>
        </p:txBody>
      </p:sp>
      <p:sp>
        <p:nvSpPr>
          <p:cNvPr id="23" name="Freeform 5">
            <a:extLst>
              <a:ext uri="{FF2B5EF4-FFF2-40B4-BE49-F238E27FC236}">
                <a16:creationId xmlns:a16="http://schemas.microsoft.com/office/drawing/2014/main" id="{B4A81DE1-E2BC-4A31-99EE-71350421B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56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 5">
            <a:extLst>
              <a:ext uri="{FF2B5EF4-FFF2-40B4-BE49-F238E27FC236}">
                <a16:creationId xmlns:a16="http://schemas.microsoft.com/office/drawing/2014/main" id="{11CAC6F2-0806-417B-BF5D-5AEF6195F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723B02-0AAB-4F6E-BA41-8ED99D559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2EA92-994A-12B6-1C5F-2A3163D54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773" y="1113062"/>
            <a:ext cx="3382297" cy="32819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rgbClr val="EBEBEB"/>
                </a:solidFill>
              </a:rPr>
              <a:t>The End!</a:t>
            </a:r>
            <a:endParaRPr lang="en-US" sz="5400" b="0" i="0" kern="1200" dirty="0">
              <a:solidFill>
                <a:srgbClr val="EBEBEB"/>
              </a:solidFill>
              <a:latin typeface="+mj-lt"/>
            </a:endParaRPr>
          </a:p>
        </p:txBody>
      </p:sp>
      <p:pic>
        <p:nvPicPr>
          <p:cNvPr id="18" name="Graphic 17" descr="Handshake">
            <a:extLst>
              <a:ext uri="{FF2B5EF4-FFF2-40B4-BE49-F238E27FC236}">
                <a16:creationId xmlns:a16="http://schemas.microsoft.com/office/drawing/2014/main" id="{C4CC8377-FB16-6589-6579-A9742C5E1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0837" y="1113063"/>
            <a:ext cx="4628758" cy="462875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535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48</TotalTime>
  <Words>451</Words>
  <Application>Microsoft Macintosh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Willson Financial Case Study </vt:lpstr>
      <vt:lpstr>Group Introduction</vt:lpstr>
      <vt:lpstr>Background</vt:lpstr>
      <vt:lpstr>Entity Relationships</vt:lpstr>
      <vt:lpstr>Business Questions?</vt:lpstr>
      <vt:lpstr>Reports Overview</vt:lpstr>
      <vt:lpstr>Monthly New Clients Report</vt:lpstr>
      <vt:lpstr>Average Assets Report</vt:lpstr>
      <vt:lpstr>High Value Clients Report</vt:lpstr>
      <vt:lpstr>The End!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Willson Financial Case Study </dc:title>
  <dc:creator>Gerald Oden</dc:creator>
  <cp:lastModifiedBy>Gerald Oden</cp:lastModifiedBy>
  <cp:revision>40</cp:revision>
  <dcterms:created xsi:type="dcterms:W3CDTF">2024-07-22T23:59:23Z</dcterms:created>
  <dcterms:modified xsi:type="dcterms:W3CDTF">2024-07-25T16:48:03Z</dcterms:modified>
</cp:coreProperties>
</file>