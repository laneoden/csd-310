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1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D83D-DA7C-CD99-AABB-EDF902499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057E2-88B7-C3CA-F3FB-EB9CC476E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E2403-3ACA-2434-67DE-2B7EB83D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E93D-C69D-CEA9-4333-B6D730A0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1456F-9DF4-5A9B-DEDF-B566E9E15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9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F766-4856-E716-85E9-FB2655BB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545A2-EE57-3350-8776-E57C117A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F987-5851-54B6-4E82-50C8A517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9BE87-760B-2FFD-3101-79C3F6EE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8A00A-800A-A5F4-B82A-F0AA929E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1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DCC3-3CDC-AC08-7F2B-205D0109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88776-DCA8-F421-5228-36B06DA79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AA06A-F77C-D112-8CEC-F0D78ACB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D6F26-9A71-92D5-AE55-E3EE9B8E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24D7E-6D19-B264-007A-CC1CB5D8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0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8BAD-C326-8B84-9E98-B890B3A8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6755E-F9BE-CA9C-50F1-007C99841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61813-A053-CB2D-F077-77E84C2B2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C4BD0-605A-63CC-F858-97E44BDC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0C0F0-6679-2C20-A908-064B2584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B2C3C-D14C-F439-1892-71F5A6B3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0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4BA2-D91D-5E05-AB9E-4D8861FB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D4CD0-5982-5DDF-1544-484A40768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76D4B-5ECC-71FF-7F4B-2A1BA4555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0DB10-4AFB-2A3E-E11D-0CC456E77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51B45-D9D0-4B42-9248-E520D6FAB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EC336-D96D-6C70-B34A-B7EF3F6A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9DA5C2-23CB-4ACA-31BE-E55D28CA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1B36-D159-64D9-6C91-5308A9998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3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6399-5B64-A58E-A5B5-2E470A497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1A7B4-B263-C92D-E862-85A1AFB9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78E0A-93FE-E0D3-B540-7B292065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648FB-0640-C808-E643-50C265A0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7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0F5D5-F447-8B83-E82F-DA4C2319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7490D3-473D-BAC9-78D9-E3598373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603B2-E5D2-92BD-D80D-4A6998C9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6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897B-D3FA-0573-976B-E4F2CF014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DB14D-130C-CE97-1AC4-16B107B60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9D994-E32F-AE49-CFBE-45E28CC2C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27648-8D9B-BDDB-0007-9E6FC4A9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7EF49-F76A-0F7C-81C5-D9FEF556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3117-FE43-3BAD-4266-12BF88E8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7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3B33-5CA2-D45C-7467-7476D999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1C596-2092-1C49-A862-AD4415F4E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2BC3B-E981-F8C1-B1FD-0A64F2262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D000C-02C8-B08F-38F5-58C577E9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2C68C-2F64-7CE1-9ECE-D6C7DE5D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DF174-5FC5-CE8D-8E59-8335E250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3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5044-449A-009A-4629-8E8951AC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8ED45-A680-0B73-FE00-FBB7578A3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3C6B-7EE2-3438-A314-DAD89291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BF522-219A-41EF-0E21-50419B1F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3F20E-134D-21BA-3080-9EF1E20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6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824B50-FA4E-C353-C864-87491E173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62A1A-C2FF-5BD0-17FB-C6928C141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39AA7-EC41-9EBB-5435-CBC697CD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ABD24-357A-D17F-A005-97A3FDF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DBCAE-ABF9-7A1F-D88E-D4EC0E5D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7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6137B-ADDE-CB84-F2EF-34A64525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9A412-ECE3-126E-06F0-EE506CE2E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61C39-8411-A6D9-40C7-375E3617D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2BB79-BC7E-534C-A64F-3CE43C51C48F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ED1DA-3741-5C70-39CB-413D208F6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9D82D-0E1A-7078-C5D1-F45DC12B5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3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096B-587B-857F-30F0-E8CC96B43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Willson Financial Case Study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9D548-ED15-D74B-26B3-B0C2F878D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Kaden </a:t>
            </a:r>
            <a:r>
              <a:rPr lang="en-US" dirty="0" err="1"/>
              <a:t>Lizama</a:t>
            </a:r>
            <a:endParaRPr lang="en-US" dirty="0"/>
          </a:p>
          <a:p>
            <a:r>
              <a:rPr lang="en-US" dirty="0"/>
              <a:t>Gerald Oden</a:t>
            </a:r>
          </a:p>
          <a:p>
            <a:r>
              <a:rPr lang="en-US" dirty="0"/>
              <a:t>CSD-310</a:t>
            </a:r>
          </a:p>
        </p:txBody>
      </p:sp>
    </p:spTree>
    <p:extLst>
      <p:ext uri="{BB962C8B-B14F-4D97-AF65-F5344CB8AC3E}">
        <p14:creationId xmlns:p14="http://schemas.microsoft.com/office/powerpoint/2010/main" val="427212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6CBA-E5DA-6CA5-CBE2-9AD42A93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Group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6DD49-7123-985C-5802-F32C2CC38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Kaden </a:t>
            </a:r>
            <a:r>
              <a:rPr lang="en-US" dirty="0" err="1"/>
              <a:t>Lizama</a:t>
            </a:r>
            <a:r>
              <a:rPr lang="en-US" dirty="0"/>
              <a:t> &lt;enter details&gt;</a:t>
            </a:r>
          </a:p>
          <a:p>
            <a:r>
              <a:rPr lang="en-US" dirty="0"/>
              <a:t>Gerald Oden is a Cybersecurity Manager living in Birmingham, Alabama and is currently pursuing a BS degree in Software Development from Bellevue University.</a:t>
            </a:r>
          </a:p>
        </p:txBody>
      </p:sp>
    </p:spTree>
    <p:extLst>
      <p:ext uri="{BB962C8B-B14F-4D97-AF65-F5344CB8AC3E}">
        <p14:creationId xmlns:p14="http://schemas.microsoft.com/office/powerpoint/2010/main" val="417500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1E4C-A4F7-21D6-235F-F424045F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7C5DE-73DA-C7E3-2D4D-48777D6D8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Ned and Jake Willson have long shared an interest in Finance and Investing.</a:t>
            </a:r>
          </a:p>
          <a:p>
            <a:r>
              <a:rPr lang="en-US" dirty="0"/>
              <a:t>The brothers each pursued finance degrees. Ned continued to complete his MBA.</a:t>
            </a:r>
          </a:p>
          <a:p>
            <a:r>
              <a:rPr lang="en-US" dirty="0"/>
              <a:t>Ned and Jake founded Willson Financial after each passing their Chartered Financial Analyst license.</a:t>
            </a:r>
          </a:p>
          <a:p>
            <a:r>
              <a:rPr lang="en-US" dirty="0"/>
              <a:t>Willson Financial targets successful ranchers, farmers and retirees in the local community.</a:t>
            </a:r>
          </a:p>
          <a:p>
            <a:r>
              <a:rPr lang="en-US" dirty="0"/>
              <a:t>Willson Financial elected to register with the Securities and Exchange Commission and must ensure compliance with SEC Regulations.</a:t>
            </a:r>
          </a:p>
          <a:p>
            <a:r>
              <a:rPr lang="en-US" dirty="0"/>
              <a:t>After hiring a full time office employee and a part time compliance manager, Willson Financial is examining their company data to analyze their business growth and perform a strategic review of their business.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06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1E4C-A4F7-21D6-235F-F424045F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7C5DE-73DA-C7E3-2D4D-48777D6D8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9378" cy="1127640"/>
          </a:xfrm>
        </p:spPr>
        <p:txBody>
          <a:bodyPr>
            <a:normAutofit/>
          </a:bodyPr>
          <a:lstStyle/>
          <a:p>
            <a:r>
              <a:rPr lang="en-US" dirty="0"/>
              <a:t>The following diagram represents the Willson Financial Database and its entity relationships:</a:t>
            </a:r>
          </a:p>
        </p:txBody>
      </p:sp>
      <p:pic>
        <p:nvPicPr>
          <p:cNvPr id="4" name="Picture 3" descr="A diagram of a company&#10;&#10;Description automatically generated">
            <a:extLst>
              <a:ext uri="{FF2B5EF4-FFF2-40B4-BE49-F238E27FC236}">
                <a16:creationId xmlns:a16="http://schemas.microsoft.com/office/drawing/2014/main" id="{EAF8EDB3-D3FD-5AC6-2A5D-F2FE53F8A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22" y="2700638"/>
            <a:ext cx="4032421" cy="396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24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758B-5E42-82FA-6453-1269A019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278BB-0B97-B935-2FBA-0415967A8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clients have been added for each of the last six months?</a:t>
            </a:r>
          </a:p>
          <a:p>
            <a:r>
              <a:rPr lang="en-US" dirty="0"/>
              <a:t>What is the average amount of assets for the entire client list?</a:t>
            </a:r>
          </a:p>
          <a:p>
            <a:r>
              <a:rPr lang="en-US" dirty="0"/>
              <a:t>How many clients have a high number (&gt;10) of transactions each month?</a:t>
            </a:r>
          </a:p>
        </p:txBody>
      </p:sp>
    </p:spTree>
    <p:extLst>
      <p:ext uri="{BB962C8B-B14F-4D97-AF65-F5344CB8AC3E}">
        <p14:creationId xmlns:p14="http://schemas.microsoft.com/office/powerpoint/2010/main" val="34555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2EA8-176F-C970-FA05-EDBF7CD2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7D871-52A5-2BAE-4611-DE3B14572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Monthly New Clients</a:t>
            </a:r>
          </a:p>
          <a:p>
            <a:r>
              <a:rPr lang="en-US" dirty="0"/>
              <a:t>Average Assets</a:t>
            </a:r>
          </a:p>
          <a:p>
            <a:r>
              <a:rPr lang="en-US" dirty="0"/>
              <a:t>High Value Clients</a:t>
            </a:r>
          </a:p>
        </p:txBody>
      </p:sp>
    </p:spTree>
    <p:extLst>
      <p:ext uri="{BB962C8B-B14F-4D97-AF65-F5344CB8AC3E}">
        <p14:creationId xmlns:p14="http://schemas.microsoft.com/office/powerpoint/2010/main" val="237510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B740-AD74-E1EE-F3BC-FFCF7FF9F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New Clients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53D-792E-F3FA-EB61-87FC612A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29878"/>
          </a:xfrm>
        </p:spPr>
        <p:txBody>
          <a:bodyPr>
            <a:normAutofit/>
          </a:bodyPr>
          <a:lstStyle/>
          <a:p>
            <a:r>
              <a:rPr lang="en-US" dirty="0"/>
              <a:t>This report will show how many clients have been added for each of the past six months.</a:t>
            </a:r>
          </a:p>
          <a:p>
            <a:r>
              <a:rPr lang="en-US" dirty="0"/>
              <a:t>This helps to understand the growth of the client base over time.</a:t>
            </a:r>
          </a:p>
          <a:p>
            <a:r>
              <a:rPr lang="en-US" dirty="0"/>
              <a:t>In order to ensure that the resulting data is displayed cleanly, we installed the pandas Python module.</a:t>
            </a:r>
          </a:p>
          <a:p>
            <a:r>
              <a:rPr lang="en-US" dirty="0"/>
              <a:t>Sample report output:</a:t>
            </a:r>
          </a:p>
        </p:txBody>
      </p:sp>
      <p:pic>
        <p:nvPicPr>
          <p:cNvPr id="5" name="Picture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52107B61-3FC0-EC6A-79A3-127557052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62" y="4655503"/>
            <a:ext cx="5943600" cy="152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61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B740-AD74-E1EE-F3BC-FFCF7FF9F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Assets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53D-792E-F3FA-EB61-87FC612A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417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report will provide the average amount of assets for the entire client lists.</a:t>
            </a:r>
          </a:p>
          <a:p>
            <a:r>
              <a:rPr lang="en-US" dirty="0"/>
              <a:t>As our business grows, we should expect the average assets to grow with us.</a:t>
            </a:r>
          </a:p>
          <a:p>
            <a:r>
              <a:rPr lang="en-US" dirty="0"/>
              <a:t>In order to ensure that the resulting data is displayed cleanly, we installed the pandas Python module.</a:t>
            </a:r>
          </a:p>
          <a:p>
            <a:r>
              <a:rPr lang="en-US" dirty="0"/>
              <a:t>Sample report output:</a:t>
            </a:r>
          </a:p>
        </p:txBody>
      </p:sp>
      <p:pic>
        <p:nvPicPr>
          <p:cNvPr id="4" name="Picture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F87F9B9B-8F33-1AF4-8A83-F926A7F8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91" y="5053965"/>
            <a:ext cx="5943600" cy="125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1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B740-AD74-E1EE-F3BC-FFCF7FF9F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Value Clients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53D-792E-F3FA-EB61-87FC612A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1644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This report will help us identify and understand our clients with more than 10 transactions per month.</a:t>
            </a:r>
          </a:p>
          <a:p>
            <a:r>
              <a:rPr lang="en-US" dirty="0"/>
              <a:t>Currently, our most active clients only have 3 transactions per month, so we have scaled the report to identify our most active clients today.</a:t>
            </a:r>
          </a:p>
          <a:p>
            <a:r>
              <a:rPr lang="en-US" dirty="0"/>
              <a:t>In the future, we can extend this report to identify clients with more than 10 transactions per month.</a:t>
            </a:r>
          </a:p>
          <a:p>
            <a:r>
              <a:rPr lang="en-US" dirty="0"/>
              <a:t>In order to ensure that the resulting data is displayed cleanly, we installed the pandas Python module.</a:t>
            </a:r>
          </a:p>
          <a:p>
            <a:r>
              <a:rPr lang="en-US" dirty="0"/>
              <a:t>Sample report output: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F57DBD3-6984-19C1-7056-9869A93BE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78" y="4842073"/>
            <a:ext cx="5943600" cy="131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5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433</Words>
  <Application>Microsoft Macintosh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Willson Financial Case Study </vt:lpstr>
      <vt:lpstr>Group Introduction</vt:lpstr>
      <vt:lpstr>Background</vt:lpstr>
      <vt:lpstr>Entity Relationships</vt:lpstr>
      <vt:lpstr>Business Questions?</vt:lpstr>
      <vt:lpstr>Reports Overview</vt:lpstr>
      <vt:lpstr>Monthly New Clients Report</vt:lpstr>
      <vt:lpstr>Average Assets Report</vt:lpstr>
      <vt:lpstr>High Value Clients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Oden</dc:creator>
  <cp:lastModifiedBy>Gerald Oden</cp:lastModifiedBy>
  <cp:revision>2</cp:revision>
  <dcterms:created xsi:type="dcterms:W3CDTF">2024-07-22T23:59:23Z</dcterms:created>
  <dcterms:modified xsi:type="dcterms:W3CDTF">2024-07-23T00:37:45Z</dcterms:modified>
</cp:coreProperties>
</file>